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p:spPr>
      </p:sp>
      <p:pic>
        <p:nvPicPr>
          <p:cNvPr id="3" name="Image 0" descr="preencoded.png">    </p:cNvPr>
          <p:cNvPicPr>
            <a:picLocks noChangeAspect="1"/>
          </p:cNvPicPr>
          <p:nvPr/>
        </p:nvPicPr>
        <p:blipFill>
          <a:blip r:embed="rId1"/>
          <a:stretch>
            <a:fillRect/>
          </a:stretch>
        </p:blipFill>
        <p:spPr>
          <a:xfrm>
            <a:off x="4114800" y="731520"/>
            <a:ext cx="914400" cy="914400"/>
          </a:xfrm>
          <a:prstGeom prst="rect">
            <a:avLst/>
          </a:prstGeom>
        </p:spPr>
      </p:pic>
      <p:sp>
        <p:nvSpPr>
          <p:cNvPr id="4" name="Text 1"/>
          <p:cNvSpPr/>
          <p:nvPr/>
        </p:nvSpPr>
        <p:spPr>
          <a:xfrm>
            <a:off x="457200" y="1737360"/>
            <a:ext cx="8229600" cy="914400"/>
          </a:xfrm>
          <a:prstGeom prst="rect">
            <a:avLst/>
          </a:prstGeom>
          <a:noFill/>
          <a:ln/>
        </p:spPr>
        <p:txBody>
          <a:bodyPr wrap="square" rtlCol="0" anchor="ctr"/>
          <a:lstStyle/>
          <a:p>
            <a:pPr algn="ctr" indent="0" marL="0">
              <a:buNone/>
            </a:pPr>
            <a:r>
              <a:rPr lang="en-US" sz="5600" b="1" dirty="0">
                <a:solidFill>
                  <a:srgbClr val="FFFFFF"/>
                </a:solidFill>
                <a:latin typeface="Arial" pitchFamily="34" charset="0"/>
                <a:ea typeface="Arial" pitchFamily="34" charset="-122"/>
                <a:cs typeface="Arial" pitchFamily="34" charset="-120"/>
              </a:rPr>
              <a:t>AgentUI</a:t>
            </a:r>
            <a:endParaRPr lang="en-US" sz="5600" dirty="0"/>
          </a:p>
        </p:txBody>
      </p:sp>
      <p:sp>
        <p:nvSpPr>
          <p:cNvPr id="5" name="Text 2"/>
          <p:cNvSpPr/>
          <p:nvPr/>
        </p:nvSpPr>
        <p:spPr>
          <a:xfrm>
            <a:off x="457200" y="2743200"/>
            <a:ext cx="8229600" cy="548640"/>
          </a:xfrm>
          <a:prstGeom prst="rect">
            <a:avLst/>
          </a:prstGeom>
          <a:noFill/>
          <a:ln/>
        </p:spPr>
        <p:txBody>
          <a:bodyPr wrap="square" rtlCol="0" anchor="ctr"/>
          <a:lstStyle/>
          <a:p>
            <a:pPr algn="ctr" indent="0" marL="0">
              <a:buNone/>
            </a:pPr>
            <a:r>
              <a:rPr lang="en-US" sz="2000" dirty="0">
                <a:solidFill>
                  <a:srgbClr val="22D3EE"/>
                </a:solidFill>
                <a:latin typeface="Arial" pitchFamily="34" charset="0"/>
                <a:ea typeface="Arial" pitchFamily="34" charset="-122"/>
                <a:cs typeface="Arial" pitchFamily="34" charset="-120"/>
              </a:rPr>
              <a:t>Localhost Control Plane cho Multi-Agent AI Workflows</a:t>
            </a:r>
            <a:endParaRPr lang="en-US" sz="2000" dirty="0"/>
          </a:p>
        </p:txBody>
      </p:sp>
      <p:sp>
        <p:nvSpPr>
          <p:cNvPr id="6" name="Text 3"/>
          <p:cNvSpPr/>
          <p:nvPr/>
        </p:nvSpPr>
        <p:spPr>
          <a:xfrm>
            <a:off x="457200" y="3337560"/>
            <a:ext cx="8229600" cy="365760"/>
          </a:xfrm>
          <a:prstGeom prst="rect">
            <a:avLst/>
          </a:prstGeom>
          <a:noFill/>
          <a:ln/>
        </p:spPr>
        <p:txBody>
          <a:bodyPr wrap="square" rtlCol="0" anchor="ctr"/>
          <a:lstStyle/>
          <a:p>
            <a:pPr algn="ctr" indent="0" marL="0">
              <a:buNone/>
            </a:pPr>
            <a:r>
              <a:rPr lang="en-US" sz="1500" dirty="0">
                <a:solidFill>
                  <a:srgbClr val="E2E8F0"/>
                </a:solidFill>
                <a:latin typeface="Arial" pitchFamily="34" charset="0"/>
                <a:ea typeface="Arial" pitchFamily="34" charset="-122"/>
                <a:cs typeface="Arial" pitchFamily="34" charset="-120"/>
              </a:rPr>
              <a:t>Sử dụng subscription Claude &amp; Grok — Không cần API Key</a:t>
            </a:r>
            <a:endParaRPr lang="en-US" sz="1500" dirty="0"/>
          </a:p>
        </p:txBody>
      </p:sp>
      <p:sp>
        <p:nvSpPr>
          <p:cNvPr id="7" name="Text 4"/>
          <p:cNvSpPr/>
          <p:nvPr/>
        </p:nvSpPr>
        <p:spPr>
          <a:xfrm>
            <a:off x="457200" y="4663440"/>
            <a:ext cx="8229600" cy="320040"/>
          </a:xfrm>
          <a:prstGeom prst="rect">
            <a:avLst/>
          </a:prstGeom>
          <a:noFill/>
          <a:ln/>
        </p:spPr>
        <p:txBody>
          <a:bodyPr wrap="square" rtlCol="0" anchor="ctr"/>
          <a:lstStyle/>
          <a:p>
            <a:pPr algn="ctr" indent="0" marL="0">
              <a:buNone/>
            </a:pPr>
            <a:r>
              <a:rPr lang="en-US" sz="1300" dirty="0">
                <a:solidFill>
                  <a:srgbClr val="64748B"/>
                </a:solidFill>
                <a:latin typeface="Arial" pitchFamily="34" charset="0"/>
                <a:ea typeface="Arial" pitchFamily="34" charset="-122"/>
                <a:cs typeface="Arial" pitchFamily="34" charset="-120"/>
              </a:rPr>
              <a:t>VietHuy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3600" b="1" dirty="0">
                <a:solidFill>
                  <a:srgbClr val="0F172A"/>
                </a:solidFill>
                <a:latin typeface="Arial" pitchFamily="34" charset="0"/>
                <a:ea typeface="Arial" pitchFamily="34" charset="-122"/>
                <a:cs typeface="Arial" pitchFamily="34" charset="-120"/>
              </a:rPr>
              <a:t>Vấn đề</a:t>
            </a:r>
            <a:endParaRPr lang="en-US" sz="3600" dirty="0"/>
          </a:p>
        </p:txBody>
      </p:sp>
      <p:sp>
        <p:nvSpPr>
          <p:cNvPr id="3" name="Shape 1"/>
          <p:cNvSpPr/>
          <p:nvPr/>
        </p:nvSpPr>
        <p:spPr>
          <a:xfrm>
            <a:off x="457200" y="1097280"/>
            <a:ext cx="8229600" cy="868680"/>
          </a:xfrm>
          <a:prstGeom prst="roundRect">
            <a:avLst>
              <a:gd name="adj" fmla="val 8421"/>
            </a:avLst>
          </a:prstGeom>
          <a:solidFill>
            <a:srgbClr val="FFFFFF"/>
          </a:solidFill>
          <a:ln/>
          <a:effectLst>
            <a:outerShdw sx="100000" sy="100000" kx="0" ky="0" algn="bl" rotWithShape="0" blurRad="50800" dist="12700" dir="8100000">
              <a:srgbClr val="000000">
                <a:alpha val="8000"/>
              </a:srgbClr>
            </a:outerShdw>
          </a:effectLst>
        </p:spPr>
      </p:sp>
      <p:pic>
        <p:nvPicPr>
          <p:cNvPr id="4" name="Image 0" descr="preencoded.png">    </p:cNvPr>
          <p:cNvPicPr>
            <a:picLocks noChangeAspect="1"/>
          </p:cNvPicPr>
          <p:nvPr/>
        </p:nvPicPr>
        <p:blipFill>
          <a:blip r:embed="rId1"/>
          <a:stretch>
            <a:fillRect/>
          </a:stretch>
        </p:blipFill>
        <p:spPr>
          <a:xfrm>
            <a:off x="640080" y="1280160"/>
            <a:ext cx="457200" cy="457200"/>
          </a:xfrm>
          <a:prstGeom prst="rect">
            <a:avLst/>
          </a:prstGeom>
        </p:spPr>
      </p:pic>
      <p:sp>
        <p:nvSpPr>
          <p:cNvPr id="5" name="Text 2"/>
          <p:cNvSpPr/>
          <p:nvPr/>
        </p:nvSpPr>
        <p:spPr>
          <a:xfrm>
            <a:off x="1280160" y="1207008"/>
            <a:ext cx="7132320" cy="32004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Orchestrator 'mù'</a:t>
            </a:r>
            <a:endParaRPr lang="en-US" sz="1600" dirty="0"/>
          </a:p>
        </p:txBody>
      </p:sp>
      <p:sp>
        <p:nvSpPr>
          <p:cNvPr id="6" name="Text 3"/>
          <p:cNvSpPr/>
          <p:nvPr/>
        </p:nvSpPr>
        <p:spPr>
          <a:xfrm>
            <a:off x="1280160" y="1536192"/>
            <a:ext cx="7132320" cy="36576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Agent chính không biết worker đã làm gì. Phải tin tưởng hoặc hỏi lại thủ công.</a:t>
            </a:r>
            <a:endParaRPr lang="en-US" sz="1300" dirty="0"/>
          </a:p>
        </p:txBody>
      </p:sp>
      <p:sp>
        <p:nvSpPr>
          <p:cNvPr id="7" name="Shape 4"/>
          <p:cNvSpPr/>
          <p:nvPr/>
        </p:nvSpPr>
        <p:spPr>
          <a:xfrm>
            <a:off x="457200" y="2057400"/>
            <a:ext cx="8229600" cy="868680"/>
          </a:xfrm>
          <a:prstGeom prst="roundRect">
            <a:avLst>
              <a:gd name="adj" fmla="val 8421"/>
            </a:avLst>
          </a:prstGeom>
          <a:solidFill>
            <a:srgbClr val="FFFFFF"/>
          </a:solidFill>
          <a:ln/>
          <a:effectLst>
            <a:outerShdw sx="100000" sy="100000" kx="0" ky="0" algn="bl" rotWithShape="0" blurRad="50800" dist="12700" dir="8100000">
              <a:srgbClr val="000000">
                <a:alpha val="8000"/>
              </a:srgbClr>
            </a:outerShdw>
          </a:effectLst>
        </p:spPr>
      </p:sp>
      <p:pic>
        <p:nvPicPr>
          <p:cNvPr id="8" name="Image 1" descr="preencoded.png">    </p:cNvPr>
          <p:cNvPicPr>
            <a:picLocks noChangeAspect="1"/>
          </p:cNvPicPr>
          <p:nvPr/>
        </p:nvPicPr>
        <p:blipFill>
          <a:blip r:embed="rId2"/>
          <a:stretch>
            <a:fillRect/>
          </a:stretch>
        </p:blipFill>
        <p:spPr>
          <a:xfrm>
            <a:off x="640080" y="2240280"/>
            <a:ext cx="457200" cy="457200"/>
          </a:xfrm>
          <a:prstGeom prst="rect">
            <a:avLst/>
          </a:prstGeom>
        </p:spPr>
      </p:pic>
      <p:sp>
        <p:nvSpPr>
          <p:cNvPr id="9" name="Text 5"/>
          <p:cNvSpPr/>
          <p:nvPr/>
        </p:nvSpPr>
        <p:spPr>
          <a:xfrm>
            <a:off x="1280160" y="2167128"/>
            <a:ext cx="7132320" cy="32004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Khó verify Dispatch</a:t>
            </a:r>
            <a:endParaRPr lang="en-US" sz="1600" dirty="0"/>
          </a:p>
        </p:txBody>
      </p:sp>
      <p:sp>
        <p:nvSpPr>
          <p:cNvPr id="10" name="Text 6"/>
          <p:cNvSpPr/>
          <p:nvPr/>
        </p:nvSpPr>
        <p:spPr>
          <a:xfrm>
            <a:off x="1280160" y="2496312"/>
            <a:ext cx="7132320" cy="36576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Model nói 'tôi sẽ dispatch' nhưng thực tế không dispatch. Không có cách nào kiểm tra trực quan.</a:t>
            </a:r>
            <a:endParaRPr lang="en-US" sz="1300" dirty="0"/>
          </a:p>
        </p:txBody>
      </p:sp>
      <p:sp>
        <p:nvSpPr>
          <p:cNvPr id="11" name="Shape 7"/>
          <p:cNvSpPr/>
          <p:nvPr/>
        </p:nvSpPr>
        <p:spPr>
          <a:xfrm>
            <a:off x="457200" y="3017520"/>
            <a:ext cx="8229600" cy="868680"/>
          </a:xfrm>
          <a:prstGeom prst="roundRect">
            <a:avLst>
              <a:gd name="adj" fmla="val 8421"/>
            </a:avLst>
          </a:prstGeom>
          <a:solidFill>
            <a:srgbClr val="FFFFFF"/>
          </a:solidFill>
          <a:ln/>
          <a:effectLst>
            <a:outerShdw sx="100000" sy="100000" kx="0" ky="0" algn="bl" rotWithShape="0" blurRad="50800" dist="12700" dir="8100000">
              <a:srgbClr val="000000">
                <a:alpha val="8000"/>
              </a:srgbClr>
            </a:outerShdw>
          </a:effectLst>
        </p:spPr>
      </p:sp>
      <p:pic>
        <p:nvPicPr>
          <p:cNvPr id="12" name="Image 2" descr="preencoded.png">    </p:cNvPr>
          <p:cNvPicPr>
            <a:picLocks noChangeAspect="1"/>
          </p:cNvPicPr>
          <p:nvPr/>
        </p:nvPicPr>
        <p:blipFill>
          <a:blip r:embed="rId3"/>
          <a:stretch>
            <a:fillRect/>
          </a:stretch>
        </p:blipFill>
        <p:spPr>
          <a:xfrm>
            <a:off x="640080" y="3200400"/>
            <a:ext cx="457200" cy="457200"/>
          </a:xfrm>
          <a:prstGeom prst="rect">
            <a:avLst/>
          </a:prstGeom>
        </p:spPr>
      </p:pic>
      <p:sp>
        <p:nvSpPr>
          <p:cNvPr id="13" name="Text 8"/>
          <p:cNvSpPr/>
          <p:nvPr/>
        </p:nvSpPr>
        <p:spPr>
          <a:xfrm>
            <a:off x="1280160" y="3127248"/>
            <a:ext cx="7132320" cy="32004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Scheduling gần như không thể</a:t>
            </a:r>
            <a:endParaRPr lang="en-US" sz="1600" dirty="0"/>
          </a:p>
        </p:txBody>
      </p:sp>
      <p:sp>
        <p:nvSpPr>
          <p:cNvPr id="14" name="Text 9"/>
          <p:cNvSpPr/>
          <p:nvPr/>
        </p:nvSpPr>
        <p:spPr>
          <a:xfrm>
            <a:off x="1280160" y="3456432"/>
            <a:ext cx="7132320" cy="36576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claude -p không thể tự wake up. Lời hứa 'mỗi 30 phút' chỉ là lời nói suông.</a:t>
            </a:r>
            <a:endParaRPr lang="en-US" sz="1300" dirty="0"/>
          </a:p>
        </p:txBody>
      </p:sp>
      <p:sp>
        <p:nvSpPr>
          <p:cNvPr id="15" name="Shape 10"/>
          <p:cNvSpPr/>
          <p:nvPr/>
        </p:nvSpPr>
        <p:spPr>
          <a:xfrm>
            <a:off x="457200" y="3977640"/>
            <a:ext cx="8229600" cy="868680"/>
          </a:xfrm>
          <a:prstGeom prst="roundRect">
            <a:avLst>
              <a:gd name="adj" fmla="val 8421"/>
            </a:avLst>
          </a:prstGeom>
          <a:solidFill>
            <a:srgbClr val="FFFFFF"/>
          </a:solidFill>
          <a:ln/>
          <a:effectLst>
            <a:outerShdw sx="100000" sy="100000" kx="0" ky="0" algn="bl" rotWithShape="0" blurRad="50800" dist="12700" dir="8100000">
              <a:srgbClr val="000000">
                <a:alpha val="8000"/>
              </a:srgbClr>
            </a:outerShdw>
          </a:effectLst>
        </p:spPr>
      </p:sp>
      <p:pic>
        <p:nvPicPr>
          <p:cNvPr id="16" name="Image 3" descr="preencoded.png">    </p:cNvPr>
          <p:cNvPicPr>
            <a:picLocks noChangeAspect="1"/>
          </p:cNvPicPr>
          <p:nvPr/>
        </p:nvPicPr>
        <p:blipFill>
          <a:blip r:embed="rId4"/>
          <a:stretch>
            <a:fillRect/>
          </a:stretch>
        </p:blipFill>
        <p:spPr>
          <a:xfrm>
            <a:off x="640080" y="4160520"/>
            <a:ext cx="457200" cy="457200"/>
          </a:xfrm>
          <a:prstGeom prst="rect">
            <a:avLst/>
          </a:prstGeom>
        </p:spPr>
      </p:pic>
      <p:sp>
        <p:nvSpPr>
          <p:cNvPr id="17" name="Text 11"/>
          <p:cNvSpPr/>
          <p:nvPr/>
        </p:nvSpPr>
        <p:spPr>
          <a:xfrm>
            <a:off x="1280160" y="4087368"/>
            <a:ext cx="7132320" cy="32004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Debug địa ngục</a:t>
            </a:r>
            <a:endParaRPr lang="en-US" sz="1600" dirty="0"/>
          </a:p>
        </p:txBody>
      </p:sp>
      <p:sp>
        <p:nvSpPr>
          <p:cNvPr id="18" name="Text 12"/>
          <p:cNvSpPr/>
          <p:nvPr/>
        </p:nvSpPr>
        <p:spPr>
          <a:xfrm>
            <a:off x="1280160" y="4416552"/>
            <a:ext cx="7132320" cy="36576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Nhiều agent chạy song song, output trộn lẫn, context mất mát, rất khó theo dõi.</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3600" b="1" dirty="0">
                <a:solidFill>
                  <a:srgbClr val="0F172A"/>
                </a:solidFill>
                <a:latin typeface="Arial" pitchFamily="34" charset="0"/>
                <a:ea typeface="Arial" pitchFamily="34" charset="-122"/>
                <a:cs typeface="Arial" pitchFamily="34" charset="-120"/>
              </a:rPr>
              <a:t>Giải pháp: AgentUI</a:t>
            </a:r>
            <a:endParaRPr lang="en-US" sz="3600" dirty="0"/>
          </a:p>
        </p:txBody>
      </p:sp>
      <p:sp>
        <p:nvSpPr>
          <p:cNvPr id="3" name="Text 1"/>
          <p:cNvSpPr/>
          <p:nvPr/>
        </p:nvSpPr>
        <p:spPr>
          <a:xfrm>
            <a:off x="457200" y="868680"/>
            <a:ext cx="8229600" cy="365760"/>
          </a:xfrm>
          <a:prstGeom prst="rect">
            <a:avLst/>
          </a:prstGeom>
          <a:noFill/>
          <a:ln/>
        </p:spPr>
        <p:txBody>
          <a:bodyPr wrap="square" rtlCol="0" anchor="ctr"/>
          <a:lstStyle/>
          <a:p>
            <a:pPr indent="0" marL="0">
              <a:buNone/>
            </a:pPr>
            <a:r>
              <a:rPr lang="en-US" sz="1600" dirty="0">
                <a:solidFill>
                  <a:srgbClr val="64748B"/>
                </a:solidFill>
                <a:latin typeface="Arial" pitchFamily="34" charset="0"/>
                <a:ea typeface="Arial" pitchFamily="34" charset="-122"/>
                <a:cs typeface="Arial" pitchFamily="34" charset="-120"/>
              </a:rPr>
              <a:t>Một Localhost Control Plane thực thụ cho hệ thống multi-agent</a:t>
            </a:r>
            <a:endParaRPr lang="en-US" sz="1600" dirty="0"/>
          </a:p>
        </p:txBody>
      </p:sp>
      <p:sp>
        <p:nvSpPr>
          <p:cNvPr id="4" name="Shape 2"/>
          <p:cNvSpPr/>
          <p:nvPr/>
        </p:nvSpPr>
        <p:spPr>
          <a:xfrm>
            <a:off x="457200" y="1463040"/>
            <a:ext cx="4114800" cy="1554480"/>
          </a:xfrm>
          <a:prstGeom prst="roundRect">
            <a:avLst>
              <a:gd name="adj" fmla="val 5882"/>
            </a:avLst>
          </a:prstGeom>
          <a:solidFill>
            <a:srgbClr val="FFFFFF"/>
          </a:solidFill>
          <a:ln/>
          <a:effectLst>
            <a:outerShdw sx="100000" sy="100000" kx="0" ky="0" algn="bl" rotWithShape="0" blurRad="76200" dist="25400" dir="81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640080" y="1645920"/>
            <a:ext cx="411480" cy="411480"/>
          </a:xfrm>
          <a:prstGeom prst="rect">
            <a:avLst/>
          </a:prstGeom>
        </p:spPr>
      </p:pic>
      <p:sp>
        <p:nvSpPr>
          <p:cNvPr id="6" name="Text 3"/>
          <p:cNvSpPr/>
          <p:nvPr/>
        </p:nvSpPr>
        <p:spPr>
          <a:xfrm>
            <a:off x="1188720" y="1645920"/>
            <a:ext cx="320040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Graph trực quan</a:t>
            </a:r>
            <a:endParaRPr lang="en-US" sz="1500" dirty="0"/>
          </a:p>
        </p:txBody>
      </p:sp>
      <p:sp>
        <p:nvSpPr>
          <p:cNvPr id="7" name="Text 4"/>
          <p:cNvSpPr/>
          <p:nvPr/>
        </p:nvSpPr>
        <p:spPr>
          <a:xfrm>
            <a:off x="640080" y="2103120"/>
            <a:ext cx="3749040" cy="8229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Mỗi agent là 1 node. Click để mở chat. Drag để sắp xếp. Live status (idle / running / ok / error).</a:t>
            </a:r>
            <a:endParaRPr lang="en-US" sz="1200" dirty="0"/>
          </a:p>
        </p:txBody>
      </p:sp>
      <p:sp>
        <p:nvSpPr>
          <p:cNvPr id="8" name="Shape 5"/>
          <p:cNvSpPr/>
          <p:nvPr/>
        </p:nvSpPr>
        <p:spPr>
          <a:xfrm>
            <a:off x="4800600" y="1463040"/>
            <a:ext cx="4114800" cy="1554480"/>
          </a:xfrm>
          <a:prstGeom prst="roundRect">
            <a:avLst>
              <a:gd name="adj" fmla="val 5882"/>
            </a:avLst>
          </a:prstGeom>
          <a:solidFill>
            <a:srgbClr val="FFFFFF"/>
          </a:solidFill>
          <a:ln/>
          <a:effectLst>
            <a:outerShdw sx="100000" sy="100000" kx="0" ky="0" algn="bl" rotWithShape="0" blurRad="76200" dist="25400" dir="8100000">
              <a:srgbClr val="000000">
                <a:alpha val="10000"/>
              </a:srgbClr>
            </a:outerShdw>
          </a:effectLst>
        </p:spPr>
      </p:sp>
      <p:pic>
        <p:nvPicPr>
          <p:cNvPr id="9" name="Image 1" descr="preencoded.png">    </p:cNvPr>
          <p:cNvPicPr>
            <a:picLocks noChangeAspect="1"/>
          </p:cNvPicPr>
          <p:nvPr/>
        </p:nvPicPr>
        <p:blipFill>
          <a:blip r:embed="rId2"/>
          <a:stretch>
            <a:fillRect/>
          </a:stretch>
        </p:blipFill>
        <p:spPr>
          <a:xfrm>
            <a:off x="4983480" y="1645920"/>
            <a:ext cx="411480" cy="411480"/>
          </a:xfrm>
          <a:prstGeom prst="rect">
            <a:avLst/>
          </a:prstGeom>
        </p:spPr>
      </p:pic>
      <p:sp>
        <p:nvSpPr>
          <p:cNvPr id="10" name="Text 6"/>
          <p:cNvSpPr/>
          <p:nvPr/>
        </p:nvSpPr>
        <p:spPr>
          <a:xfrm>
            <a:off x="5532120" y="1645920"/>
            <a:ext cx="320040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Auto-Dispatch có feedback</a:t>
            </a:r>
            <a:endParaRPr lang="en-US" sz="1500" dirty="0"/>
          </a:p>
        </p:txBody>
      </p:sp>
      <p:sp>
        <p:nvSpPr>
          <p:cNvPr id="11" name="Text 7"/>
          <p:cNvSpPr/>
          <p:nvPr/>
        </p:nvSpPr>
        <p:spPr>
          <a:xfrm>
            <a:off x="4983480" y="2103120"/>
            <a:ext cx="3749040" cy="8229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Orchestrator emit &lt;dispatch&gt;. Backend parse live, chạy worker, trả kết quả qua ledger + auto-continuation.</a:t>
            </a:r>
            <a:endParaRPr lang="en-US" sz="1200" dirty="0"/>
          </a:p>
        </p:txBody>
      </p:sp>
      <p:sp>
        <p:nvSpPr>
          <p:cNvPr id="12" name="Shape 8"/>
          <p:cNvSpPr/>
          <p:nvPr/>
        </p:nvSpPr>
        <p:spPr>
          <a:xfrm>
            <a:off x="457200" y="3154680"/>
            <a:ext cx="4114800" cy="1554480"/>
          </a:xfrm>
          <a:prstGeom prst="roundRect">
            <a:avLst>
              <a:gd name="adj" fmla="val 5882"/>
            </a:avLst>
          </a:prstGeom>
          <a:solidFill>
            <a:srgbClr val="FFFFFF"/>
          </a:solidFill>
          <a:ln/>
          <a:effectLst>
            <a:outerShdw sx="100000" sy="100000" kx="0" ky="0" algn="bl" rotWithShape="0" blurRad="76200" dist="25400" dir="8100000">
              <a:srgbClr val="000000">
                <a:alpha val="10000"/>
              </a:srgbClr>
            </a:outerShdw>
          </a:effectLst>
        </p:spPr>
      </p:sp>
      <p:pic>
        <p:nvPicPr>
          <p:cNvPr id="13" name="Image 2" descr="preencoded.png">    </p:cNvPr>
          <p:cNvPicPr>
            <a:picLocks noChangeAspect="1"/>
          </p:cNvPicPr>
          <p:nvPr/>
        </p:nvPicPr>
        <p:blipFill>
          <a:blip r:embed="rId3"/>
          <a:stretch>
            <a:fillRect/>
          </a:stretch>
        </p:blipFill>
        <p:spPr>
          <a:xfrm>
            <a:off x="640080" y="3337560"/>
            <a:ext cx="411480" cy="411480"/>
          </a:xfrm>
          <a:prstGeom prst="rect">
            <a:avLst/>
          </a:prstGeom>
        </p:spPr>
      </p:pic>
      <p:sp>
        <p:nvSpPr>
          <p:cNvPr id="14" name="Text 9"/>
          <p:cNvSpPr/>
          <p:nvPr/>
        </p:nvSpPr>
        <p:spPr>
          <a:xfrm>
            <a:off x="1188720" y="3337560"/>
            <a:ext cx="320040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Scheduler thực sự</a:t>
            </a:r>
            <a:endParaRPr lang="en-US" sz="1500" dirty="0"/>
          </a:p>
        </p:txBody>
      </p:sp>
      <p:sp>
        <p:nvSpPr>
          <p:cNvPr id="15" name="Text 10"/>
          <p:cNvSpPr/>
          <p:nvPr/>
        </p:nvSpPr>
        <p:spPr>
          <a:xfrm>
            <a:off x="640080" y="3794760"/>
            <a:ext cx="3749040" cy="8229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Hỗ trợ interval, one-shot, goal-loop. Agent tự quyết định khi nào dừng với &lt;schedule_stop&gt;.</a:t>
            </a:r>
            <a:endParaRPr lang="en-US" sz="1200" dirty="0"/>
          </a:p>
        </p:txBody>
      </p:sp>
      <p:sp>
        <p:nvSpPr>
          <p:cNvPr id="16" name="Shape 11"/>
          <p:cNvSpPr/>
          <p:nvPr/>
        </p:nvSpPr>
        <p:spPr>
          <a:xfrm>
            <a:off x="4800600" y="3154680"/>
            <a:ext cx="4114800" cy="1554480"/>
          </a:xfrm>
          <a:prstGeom prst="roundRect">
            <a:avLst>
              <a:gd name="adj" fmla="val 5882"/>
            </a:avLst>
          </a:prstGeom>
          <a:solidFill>
            <a:srgbClr val="FFFFFF"/>
          </a:solidFill>
          <a:ln/>
          <a:effectLst>
            <a:outerShdw sx="100000" sy="100000" kx="0" ky="0" algn="bl" rotWithShape="0" blurRad="76200" dist="25400" dir="8100000">
              <a:srgbClr val="000000">
                <a:alpha val="10000"/>
              </a:srgbClr>
            </a:outerShdw>
          </a:effectLst>
        </p:spPr>
      </p:sp>
      <p:pic>
        <p:nvPicPr>
          <p:cNvPr id="17" name="Image 3" descr="preencoded.png">    </p:cNvPr>
          <p:cNvPicPr>
            <a:picLocks noChangeAspect="1"/>
          </p:cNvPicPr>
          <p:nvPr/>
        </p:nvPicPr>
        <p:blipFill>
          <a:blip r:embed="rId4"/>
          <a:stretch>
            <a:fillRect/>
          </a:stretch>
        </p:blipFill>
        <p:spPr>
          <a:xfrm>
            <a:off x="4983480" y="3337560"/>
            <a:ext cx="411480" cy="411480"/>
          </a:xfrm>
          <a:prstGeom prst="rect">
            <a:avLst/>
          </a:prstGeom>
        </p:spPr>
      </p:pic>
      <p:sp>
        <p:nvSpPr>
          <p:cNvPr id="18" name="Text 12"/>
          <p:cNvSpPr/>
          <p:nvPr/>
        </p:nvSpPr>
        <p:spPr>
          <a:xfrm>
            <a:off x="5532120" y="3337560"/>
            <a:ext cx="3200400" cy="36576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Floating Windows</a:t>
            </a:r>
            <a:endParaRPr lang="en-US" sz="1500" dirty="0"/>
          </a:p>
        </p:txBody>
      </p:sp>
      <p:sp>
        <p:nvSpPr>
          <p:cNvPr id="19" name="Text 13"/>
          <p:cNvSpPr/>
          <p:nvPr/>
        </p:nvSpPr>
        <p:spPr>
          <a:xfrm>
            <a:off x="4983480" y="3794760"/>
            <a:ext cx="3749040" cy="8229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Nhiều agent chat cùng lúc. Draggable, resizable. Giống VS Code nhưng cho AI agents.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0F172A"/>
                </a:solidFill>
                <a:latin typeface="Arial" pitchFamily="34" charset="0"/>
                <a:ea typeface="Arial" pitchFamily="34" charset="-122"/>
                <a:cs typeface="Arial" pitchFamily="34" charset="-120"/>
              </a:rPr>
              <a:t>Tính năng nổi bật</a:t>
            </a:r>
            <a:endParaRPr lang="en-US" sz="3200" dirty="0"/>
          </a:p>
        </p:txBody>
      </p:sp>
      <p:sp>
        <p:nvSpPr>
          <p:cNvPr id="3" name="Shape 1"/>
          <p:cNvSpPr/>
          <p:nvPr/>
        </p:nvSpPr>
        <p:spPr>
          <a:xfrm>
            <a:off x="457200" y="1005840"/>
            <a:ext cx="4114800" cy="685800"/>
          </a:xfrm>
          <a:prstGeom prst="roundRect">
            <a:avLst>
              <a:gd name="adj" fmla="val 10667"/>
            </a:avLst>
          </a:prstGeom>
          <a:solidFill>
            <a:srgbClr val="FFFFFF"/>
          </a:solidFill>
          <a:ln/>
        </p:spPr>
      </p:sp>
      <p:pic>
        <p:nvPicPr>
          <p:cNvPr id="4" name="Image 0" descr="preencoded.png">    </p:cNvPr>
          <p:cNvPicPr>
            <a:picLocks noChangeAspect="1"/>
          </p:cNvPicPr>
          <p:nvPr/>
        </p:nvPicPr>
        <p:blipFill>
          <a:blip r:embed="rId1"/>
          <a:stretch>
            <a:fillRect/>
          </a:stretch>
        </p:blipFill>
        <p:spPr>
          <a:xfrm>
            <a:off x="594360" y="1143000"/>
            <a:ext cx="384048" cy="384048"/>
          </a:xfrm>
          <a:prstGeom prst="rect">
            <a:avLst/>
          </a:prstGeom>
        </p:spPr>
      </p:pic>
      <p:sp>
        <p:nvSpPr>
          <p:cNvPr id="5" name="Text 2"/>
          <p:cNvSpPr/>
          <p:nvPr/>
        </p:nvSpPr>
        <p:spPr>
          <a:xfrm>
            <a:off x="1097280" y="1143000"/>
            <a:ext cx="3291840" cy="457200"/>
          </a:xfrm>
          <a:prstGeom prst="rect">
            <a:avLst/>
          </a:prstGeom>
          <a:noFill/>
          <a:ln/>
        </p:spPr>
        <p:txBody>
          <a:bodyPr wrap="square" rtlCol="0" anchor="ctr"/>
          <a:lstStyle/>
          <a:p>
            <a:pPr indent="0" marL="0">
              <a:buNone/>
            </a:pPr>
            <a:r>
              <a:rPr lang="en-US" sz="1300" dirty="0">
                <a:solidFill>
                  <a:srgbClr val="0F172A"/>
                </a:solidFill>
                <a:latin typeface="Arial" pitchFamily="34" charset="0"/>
                <a:ea typeface="Arial" pitchFamily="34" charset="-122"/>
                <a:cs typeface="Arial" pitchFamily="34" charset="-120"/>
              </a:rPr>
              <a:t>Auto-dispatch với Dispatch Ledger &amp; Auto-continuation</a:t>
            </a:r>
            <a:endParaRPr lang="en-US" sz="1300" dirty="0"/>
          </a:p>
        </p:txBody>
      </p:sp>
      <p:sp>
        <p:nvSpPr>
          <p:cNvPr id="6" name="Shape 3"/>
          <p:cNvSpPr/>
          <p:nvPr/>
        </p:nvSpPr>
        <p:spPr>
          <a:xfrm>
            <a:off x="457200" y="1783080"/>
            <a:ext cx="4114800" cy="685800"/>
          </a:xfrm>
          <a:prstGeom prst="roundRect">
            <a:avLst>
              <a:gd name="adj" fmla="val 10667"/>
            </a:avLst>
          </a:prstGeom>
          <a:solidFill>
            <a:srgbClr val="FFFFFF"/>
          </a:solidFill>
          <a:ln/>
        </p:spPr>
      </p:sp>
      <p:pic>
        <p:nvPicPr>
          <p:cNvPr id="7" name="Image 1" descr="preencoded.png">    </p:cNvPr>
          <p:cNvPicPr>
            <a:picLocks noChangeAspect="1"/>
          </p:cNvPicPr>
          <p:nvPr/>
        </p:nvPicPr>
        <p:blipFill>
          <a:blip r:embed="rId2"/>
          <a:stretch>
            <a:fillRect/>
          </a:stretch>
        </p:blipFill>
        <p:spPr>
          <a:xfrm>
            <a:off x="594360" y="1920240"/>
            <a:ext cx="384048" cy="384048"/>
          </a:xfrm>
          <a:prstGeom prst="rect">
            <a:avLst/>
          </a:prstGeom>
        </p:spPr>
      </p:pic>
      <p:sp>
        <p:nvSpPr>
          <p:cNvPr id="8" name="Text 4"/>
          <p:cNvSpPr/>
          <p:nvPr/>
        </p:nvSpPr>
        <p:spPr>
          <a:xfrm>
            <a:off x="1097280" y="1920240"/>
            <a:ext cx="3291840" cy="457200"/>
          </a:xfrm>
          <a:prstGeom prst="rect">
            <a:avLst/>
          </a:prstGeom>
          <a:noFill/>
          <a:ln/>
        </p:spPr>
        <p:txBody>
          <a:bodyPr wrap="square" rtlCol="0" anchor="ctr"/>
          <a:lstStyle/>
          <a:p>
            <a:pPr indent="0" marL="0">
              <a:buNone/>
            </a:pPr>
            <a:r>
              <a:rPr lang="en-US" sz="1300" dirty="0">
                <a:solidFill>
                  <a:srgbClr val="0F172A"/>
                </a:solidFill>
                <a:latin typeface="Arial" pitchFamily="34" charset="0"/>
                <a:ea typeface="Arial" pitchFamily="34" charset="-122"/>
                <a:cs typeface="Arial" pitchFamily="34" charset="-120"/>
              </a:rPr>
              <a:t>Thêm agent qua UI (BOSS tự bootstrap file)</a:t>
            </a:r>
            <a:endParaRPr lang="en-US" sz="1300" dirty="0"/>
          </a:p>
        </p:txBody>
      </p:sp>
      <p:sp>
        <p:nvSpPr>
          <p:cNvPr id="9" name="Shape 5"/>
          <p:cNvSpPr/>
          <p:nvPr/>
        </p:nvSpPr>
        <p:spPr>
          <a:xfrm>
            <a:off x="457200" y="2560320"/>
            <a:ext cx="4114800" cy="685800"/>
          </a:xfrm>
          <a:prstGeom prst="roundRect">
            <a:avLst>
              <a:gd name="adj" fmla="val 10667"/>
            </a:avLst>
          </a:prstGeom>
          <a:solidFill>
            <a:srgbClr val="FFFFFF"/>
          </a:solidFill>
          <a:ln/>
        </p:spPr>
      </p:sp>
      <p:pic>
        <p:nvPicPr>
          <p:cNvPr id="10" name="Image 2" descr="preencoded.png">    </p:cNvPr>
          <p:cNvPicPr>
            <a:picLocks noChangeAspect="1"/>
          </p:cNvPicPr>
          <p:nvPr/>
        </p:nvPicPr>
        <p:blipFill>
          <a:blip r:embed="rId3"/>
          <a:stretch>
            <a:fillRect/>
          </a:stretch>
        </p:blipFill>
        <p:spPr>
          <a:xfrm>
            <a:off x="594360" y="2697480"/>
            <a:ext cx="384048" cy="384048"/>
          </a:xfrm>
          <a:prstGeom prst="rect">
            <a:avLst/>
          </a:prstGeom>
        </p:spPr>
      </p:pic>
      <p:sp>
        <p:nvSpPr>
          <p:cNvPr id="11" name="Text 6"/>
          <p:cNvSpPr/>
          <p:nvPr/>
        </p:nvSpPr>
        <p:spPr>
          <a:xfrm>
            <a:off x="1097280" y="2697480"/>
            <a:ext cx="3291840" cy="457200"/>
          </a:xfrm>
          <a:prstGeom prst="rect">
            <a:avLst/>
          </a:prstGeom>
          <a:noFill/>
          <a:ln/>
        </p:spPr>
        <p:txBody>
          <a:bodyPr wrap="square" rtlCol="0" anchor="ctr"/>
          <a:lstStyle/>
          <a:p>
            <a:pPr indent="0" marL="0">
              <a:buNone/>
            </a:pPr>
            <a:r>
              <a:rPr lang="en-US" sz="1300" dirty="0">
                <a:solidFill>
                  <a:srgbClr val="0F172A"/>
                </a:solidFill>
                <a:latin typeface="Arial" pitchFamily="34" charset="0"/>
                <a:ea typeface="Arial" pitchFamily="34" charset="-122"/>
                <a:cs typeface="Arial" pitchFamily="34" charset="-120"/>
              </a:rPr>
              <a:t>Mix Claude + Grok trong cùng graph</a:t>
            </a:r>
            <a:endParaRPr lang="en-US" sz="1300" dirty="0"/>
          </a:p>
        </p:txBody>
      </p:sp>
      <p:sp>
        <p:nvSpPr>
          <p:cNvPr id="12" name="Shape 7"/>
          <p:cNvSpPr/>
          <p:nvPr/>
        </p:nvSpPr>
        <p:spPr>
          <a:xfrm>
            <a:off x="457200" y="3337560"/>
            <a:ext cx="4114800" cy="685800"/>
          </a:xfrm>
          <a:prstGeom prst="roundRect">
            <a:avLst>
              <a:gd name="adj" fmla="val 10667"/>
            </a:avLst>
          </a:prstGeom>
          <a:solidFill>
            <a:srgbClr val="FFFFFF"/>
          </a:solidFill>
          <a:ln/>
        </p:spPr>
      </p:sp>
      <p:pic>
        <p:nvPicPr>
          <p:cNvPr id="13" name="Image 3" descr="preencoded.png">    </p:cNvPr>
          <p:cNvPicPr>
            <a:picLocks noChangeAspect="1"/>
          </p:cNvPicPr>
          <p:nvPr/>
        </p:nvPicPr>
        <p:blipFill>
          <a:blip r:embed="rId4"/>
          <a:stretch>
            <a:fillRect/>
          </a:stretch>
        </p:blipFill>
        <p:spPr>
          <a:xfrm>
            <a:off x="594360" y="3474720"/>
            <a:ext cx="384048" cy="384048"/>
          </a:xfrm>
          <a:prstGeom prst="rect">
            <a:avLst/>
          </a:prstGeom>
        </p:spPr>
      </p:pic>
      <p:sp>
        <p:nvSpPr>
          <p:cNvPr id="14" name="Text 8"/>
          <p:cNvSpPr/>
          <p:nvPr/>
        </p:nvSpPr>
        <p:spPr>
          <a:xfrm>
            <a:off x="1097280" y="3474720"/>
            <a:ext cx="3291840" cy="457200"/>
          </a:xfrm>
          <a:prstGeom prst="rect">
            <a:avLst/>
          </a:prstGeom>
          <a:noFill/>
          <a:ln/>
        </p:spPr>
        <p:txBody>
          <a:bodyPr wrap="square" rtlCol="0" anchor="ctr"/>
          <a:lstStyle/>
          <a:p>
            <a:pPr indent="0" marL="0">
              <a:buNone/>
            </a:pPr>
            <a:r>
              <a:rPr lang="en-US" sz="1300" dirty="0">
                <a:solidFill>
                  <a:srgbClr val="0F172A"/>
                </a:solidFill>
                <a:latin typeface="Arial" pitchFamily="34" charset="0"/>
                <a:ea typeface="Arial" pitchFamily="34" charset="-122"/>
                <a:cs typeface="Arial" pitchFamily="34" charset="-120"/>
              </a:rPr>
              <a:t>Slash commands (/model, /dispatch, /schedule, /track...)</a:t>
            </a:r>
            <a:endParaRPr lang="en-US" sz="1300" dirty="0"/>
          </a:p>
        </p:txBody>
      </p:sp>
      <p:sp>
        <p:nvSpPr>
          <p:cNvPr id="15" name="Shape 9"/>
          <p:cNvSpPr/>
          <p:nvPr/>
        </p:nvSpPr>
        <p:spPr>
          <a:xfrm>
            <a:off x="457200" y="4114800"/>
            <a:ext cx="4114800" cy="685800"/>
          </a:xfrm>
          <a:prstGeom prst="roundRect">
            <a:avLst>
              <a:gd name="adj" fmla="val 10667"/>
            </a:avLst>
          </a:prstGeom>
          <a:solidFill>
            <a:srgbClr val="FFFFFF"/>
          </a:solidFill>
          <a:ln/>
        </p:spPr>
      </p:sp>
      <p:pic>
        <p:nvPicPr>
          <p:cNvPr id="16" name="Image 4" descr="preencoded.png">    </p:cNvPr>
          <p:cNvPicPr>
            <a:picLocks noChangeAspect="1"/>
          </p:cNvPicPr>
          <p:nvPr/>
        </p:nvPicPr>
        <p:blipFill>
          <a:blip r:embed="rId5"/>
          <a:stretch>
            <a:fillRect/>
          </a:stretch>
        </p:blipFill>
        <p:spPr>
          <a:xfrm>
            <a:off x="594360" y="4251960"/>
            <a:ext cx="384048" cy="384048"/>
          </a:xfrm>
          <a:prstGeom prst="rect">
            <a:avLst/>
          </a:prstGeom>
        </p:spPr>
      </p:pic>
      <p:sp>
        <p:nvSpPr>
          <p:cNvPr id="17" name="Text 10"/>
          <p:cNvSpPr/>
          <p:nvPr/>
        </p:nvSpPr>
        <p:spPr>
          <a:xfrm>
            <a:off x="1097280" y="4251960"/>
            <a:ext cx="3291840" cy="457200"/>
          </a:xfrm>
          <a:prstGeom prst="rect">
            <a:avLst/>
          </a:prstGeom>
          <a:noFill/>
          <a:ln/>
        </p:spPr>
        <p:txBody>
          <a:bodyPr wrap="square" rtlCol="0" anchor="ctr"/>
          <a:lstStyle/>
          <a:p>
            <a:pPr indent="0" marL="0">
              <a:buNone/>
            </a:pPr>
            <a:r>
              <a:rPr lang="en-US" sz="1300" dirty="0">
                <a:solidFill>
                  <a:srgbClr val="0F172A"/>
                </a:solidFill>
                <a:latin typeface="Arial" pitchFamily="34" charset="0"/>
                <a:ea typeface="Arial" pitchFamily="34" charset="-122"/>
                <a:cs typeface="Arial" pitchFamily="34" charset="-120"/>
              </a:rPr>
              <a:t>Workspace file tree + floating file viewer</a:t>
            </a:r>
            <a:endParaRPr lang="en-US" sz="1300" dirty="0"/>
          </a:p>
        </p:txBody>
      </p:sp>
      <p:sp>
        <p:nvSpPr>
          <p:cNvPr id="18" name="Shape 11"/>
          <p:cNvSpPr/>
          <p:nvPr/>
        </p:nvSpPr>
        <p:spPr>
          <a:xfrm>
            <a:off x="4846320" y="1005840"/>
            <a:ext cx="4114800" cy="685800"/>
          </a:xfrm>
          <a:prstGeom prst="roundRect">
            <a:avLst>
              <a:gd name="adj" fmla="val 10667"/>
            </a:avLst>
          </a:prstGeom>
          <a:solidFill>
            <a:srgbClr val="FFFFFF"/>
          </a:solidFill>
          <a:ln/>
        </p:spPr>
      </p:sp>
      <p:pic>
        <p:nvPicPr>
          <p:cNvPr id="19" name="Image 5" descr="preencoded.png">    </p:cNvPr>
          <p:cNvPicPr>
            <a:picLocks noChangeAspect="1"/>
          </p:cNvPicPr>
          <p:nvPr/>
        </p:nvPicPr>
        <p:blipFill>
          <a:blip r:embed="rId6"/>
          <a:stretch>
            <a:fillRect/>
          </a:stretch>
        </p:blipFill>
        <p:spPr>
          <a:xfrm>
            <a:off x="4983480" y="1143000"/>
            <a:ext cx="384048" cy="384048"/>
          </a:xfrm>
          <a:prstGeom prst="rect">
            <a:avLst/>
          </a:prstGeom>
        </p:spPr>
      </p:pic>
      <p:sp>
        <p:nvSpPr>
          <p:cNvPr id="20" name="Text 12"/>
          <p:cNvSpPr/>
          <p:nvPr/>
        </p:nvSpPr>
        <p:spPr>
          <a:xfrm>
            <a:off x="5486400" y="1143000"/>
            <a:ext cx="3291840" cy="457200"/>
          </a:xfrm>
          <a:prstGeom prst="rect">
            <a:avLst/>
          </a:prstGeom>
          <a:noFill/>
          <a:ln/>
        </p:spPr>
        <p:txBody>
          <a:bodyPr wrap="square" rtlCol="0" anchor="ctr"/>
          <a:lstStyle/>
          <a:p>
            <a:pPr indent="0" marL="0">
              <a:buNone/>
            </a:pPr>
            <a:r>
              <a:rPr lang="en-US" sz="1300" dirty="0">
                <a:solidFill>
                  <a:srgbClr val="0F172A"/>
                </a:solidFill>
                <a:latin typeface="Arial" pitchFamily="34" charset="0"/>
                <a:ea typeface="Arial" pitchFamily="34" charset="-122"/>
                <a:cs typeface="Arial" pitchFamily="34" charset="-120"/>
              </a:rPr>
              <a:t>Per-agent model &amp; effort overrides</a:t>
            </a:r>
            <a:endParaRPr lang="en-US" sz="1300" dirty="0"/>
          </a:p>
        </p:txBody>
      </p:sp>
      <p:sp>
        <p:nvSpPr>
          <p:cNvPr id="21" name="Shape 13"/>
          <p:cNvSpPr/>
          <p:nvPr/>
        </p:nvSpPr>
        <p:spPr>
          <a:xfrm>
            <a:off x="4846320" y="1783080"/>
            <a:ext cx="4114800" cy="685800"/>
          </a:xfrm>
          <a:prstGeom prst="roundRect">
            <a:avLst>
              <a:gd name="adj" fmla="val 10667"/>
            </a:avLst>
          </a:prstGeom>
          <a:solidFill>
            <a:srgbClr val="FFFFFF"/>
          </a:solidFill>
          <a:ln/>
        </p:spPr>
      </p:sp>
      <p:pic>
        <p:nvPicPr>
          <p:cNvPr id="22" name="Image 6" descr="preencoded.png">    </p:cNvPr>
          <p:cNvPicPr>
            <a:picLocks noChangeAspect="1"/>
          </p:cNvPicPr>
          <p:nvPr/>
        </p:nvPicPr>
        <p:blipFill>
          <a:blip r:embed="rId7"/>
          <a:stretch>
            <a:fillRect/>
          </a:stretch>
        </p:blipFill>
        <p:spPr>
          <a:xfrm>
            <a:off x="4983480" y="1920240"/>
            <a:ext cx="384048" cy="384048"/>
          </a:xfrm>
          <a:prstGeom prst="rect">
            <a:avLst/>
          </a:prstGeom>
        </p:spPr>
      </p:pic>
      <p:sp>
        <p:nvSpPr>
          <p:cNvPr id="23" name="Text 14"/>
          <p:cNvSpPr/>
          <p:nvPr/>
        </p:nvSpPr>
        <p:spPr>
          <a:xfrm>
            <a:off x="5486400" y="1920240"/>
            <a:ext cx="3291840" cy="457200"/>
          </a:xfrm>
          <a:prstGeom prst="rect">
            <a:avLst/>
          </a:prstGeom>
          <a:noFill/>
          <a:ln/>
        </p:spPr>
        <p:txBody>
          <a:bodyPr wrap="square" rtlCol="0" anchor="ctr"/>
          <a:lstStyle/>
          <a:p>
            <a:pPr indent="0" marL="0">
              <a:buNone/>
            </a:pPr>
            <a:r>
              <a:rPr lang="en-US" sz="1300" dirty="0">
                <a:solidFill>
                  <a:srgbClr val="0F172A"/>
                </a:solidFill>
                <a:latin typeface="Arial" pitchFamily="34" charset="0"/>
                <a:ea typeface="Arial" pitchFamily="34" charset="-122"/>
                <a:cs typeface="Arial" pitchFamily="34" charset="-120"/>
              </a:rPr>
              <a:t>PTY streaming (tokens đến real-time)</a:t>
            </a:r>
            <a:endParaRPr lang="en-US" sz="1300" dirty="0"/>
          </a:p>
        </p:txBody>
      </p:sp>
      <p:sp>
        <p:nvSpPr>
          <p:cNvPr id="24" name="Shape 15"/>
          <p:cNvSpPr/>
          <p:nvPr/>
        </p:nvSpPr>
        <p:spPr>
          <a:xfrm>
            <a:off x="4846320" y="2560320"/>
            <a:ext cx="4114800" cy="685800"/>
          </a:xfrm>
          <a:prstGeom prst="roundRect">
            <a:avLst>
              <a:gd name="adj" fmla="val 10667"/>
            </a:avLst>
          </a:prstGeom>
          <a:solidFill>
            <a:srgbClr val="FFFFFF"/>
          </a:solidFill>
          <a:ln/>
        </p:spPr>
      </p:sp>
      <p:pic>
        <p:nvPicPr>
          <p:cNvPr id="25" name="Image 7" descr="preencoded.png">    </p:cNvPr>
          <p:cNvPicPr>
            <a:picLocks noChangeAspect="1"/>
          </p:cNvPicPr>
          <p:nvPr/>
        </p:nvPicPr>
        <p:blipFill>
          <a:blip r:embed="rId8"/>
          <a:stretch>
            <a:fillRect/>
          </a:stretch>
        </p:blipFill>
        <p:spPr>
          <a:xfrm>
            <a:off x="4983480" y="2697480"/>
            <a:ext cx="384048" cy="384048"/>
          </a:xfrm>
          <a:prstGeom prst="rect">
            <a:avLst/>
          </a:prstGeom>
        </p:spPr>
      </p:pic>
      <p:sp>
        <p:nvSpPr>
          <p:cNvPr id="26" name="Text 16"/>
          <p:cNvSpPr/>
          <p:nvPr/>
        </p:nvSpPr>
        <p:spPr>
          <a:xfrm>
            <a:off x="5486400" y="2697480"/>
            <a:ext cx="3291840" cy="457200"/>
          </a:xfrm>
          <a:prstGeom prst="rect">
            <a:avLst/>
          </a:prstGeom>
          <a:noFill/>
          <a:ln/>
        </p:spPr>
        <p:txBody>
          <a:bodyPr wrap="square" rtlCol="0" anchor="ctr"/>
          <a:lstStyle/>
          <a:p>
            <a:pPr indent="0" marL="0">
              <a:buNone/>
            </a:pPr>
            <a:r>
              <a:rPr lang="en-US" sz="1300" dirty="0">
                <a:solidFill>
                  <a:srgbClr val="0F172A"/>
                </a:solidFill>
                <a:latin typeface="Arial" pitchFamily="34" charset="0"/>
                <a:ea typeface="Arial" pitchFamily="34" charset="-122"/>
                <a:cs typeface="Arial" pitchFamily="34" charset="-120"/>
              </a:rPr>
              <a:t>Startup reaper + resume guard + SSE heartbeat</a:t>
            </a:r>
            <a:endParaRPr lang="en-US" sz="1300" dirty="0"/>
          </a:p>
        </p:txBody>
      </p:sp>
      <p:sp>
        <p:nvSpPr>
          <p:cNvPr id="27" name="Shape 17"/>
          <p:cNvSpPr/>
          <p:nvPr/>
        </p:nvSpPr>
        <p:spPr>
          <a:xfrm>
            <a:off x="4846320" y="3337560"/>
            <a:ext cx="4114800" cy="685800"/>
          </a:xfrm>
          <a:prstGeom prst="roundRect">
            <a:avLst>
              <a:gd name="adj" fmla="val 10667"/>
            </a:avLst>
          </a:prstGeom>
          <a:solidFill>
            <a:srgbClr val="FFFFFF"/>
          </a:solidFill>
          <a:ln/>
        </p:spPr>
      </p:sp>
      <p:pic>
        <p:nvPicPr>
          <p:cNvPr id="28" name="Image 8" descr="preencoded.png">    </p:cNvPr>
          <p:cNvPicPr>
            <a:picLocks noChangeAspect="1"/>
          </p:cNvPicPr>
          <p:nvPr/>
        </p:nvPicPr>
        <p:blipFill>
          <a:blip r:embed="rId9"/>
          <a:stretch>
            <a:fillRect/>
          </a:stretch>
        </p:blipFill>
        <p:spPr>
          <a:xfrm>
            <a:off x="4983480" y="3474720"/>
            <a:ext cx="384048" cy="384048"/>
          </a:xfrm>
          <a:prstGeom prst="rect">
            <a:avLst/>
          </a:prstGeom>
        </p:spPr>
      </p:pic>
      <p:sp>
        <p:nvSpPr>
          <p:cNvPr id="29" name="Text 18"/>
          <p:cNvSpPr/>
          <p:nvPr/>
        </p:nvSpPr>
        <p:spPr>
          <a:xfrm>
            <a:off x="5486400" y="3474720"/>
            <a:ext cx="3291840" cy="457200"/>
          </a:xfrm>
          <a:prstGeom prst="rect">
            <a:avLst/>
          </a:prstGeom>
          <a:noFill/>
          <a:ln/>
        </p:spPr>
        <p:txBody>
          <a:bodyPr wrap="square" rtlCol="0" anchor="ctr"/>
          <a:lstStyle/>
          <a:p>
            <a:pPr indent="0" marL="0">
              <a:buNone/>
            </a:pPr>
            <a:r>
              <a:rPr lang="en-US" sz="1300" dirty="0">
                <a:solidFill>
                  <a:srgbClr val="0F172A"/>
                </a:solidFill>
                <a:latin typeface="Arial" pitchFamily="34" charset="0"/>
                <a:ea typeface="Arial" pitchFamily="34" charset="-122"/>
                <a:cs typeface="Arial" pitchFamily="34" charset="-120"/>
              </a:rPr>
              <a:t>Scheduler on/off global toggle</a:t>
            </a:r>
            <a:endParaRPr lang="en-US" sz="1300" dirty="0"/>
          </a:p>
        </p:txBody>
      </p:sp>
      <p:sp>
        <p:nvSpPr>
          <p:cNvPr id="30" name="Shape 19"/>
          <p:cNvSpPr/>
          <p:nvPr/>
        </p:nvSpPr>
        <p:spPr>
          <a:xfrm>
            <a:off x="4846320" y="4114800"/>
            <a:ext cx="4114800" cy="685800"/>
          </a:xfrm>
          <a:prstGeom prst="roundRect">
            <a:avLst>
              <a:gd name="adj" fmla="val 10667"/>
            </a:avLst>
          </a:prstGeom>
          <a:solidFill>
            <a:srgbClr val="FFFFFF"/>
          </a:solidFill>
          <a:ln/>
        </p:spPr>
      </p:sp>
      <p:pic>
        <p:nvPicPr>
          <p:cNvPr id="31" name="Image 9" descr="preencoded.png">    </p:cNvPr>
          <p:cNvPicPr>
            <a:picLocks noChangeAspect="1"/>
          </p:cNvPicPr>
          <p:nvPr/>
        </p:nvPicPr>
        <p:blipFill>
          <a:blip r:embed="rId10"/>
          <a:stretch>
            <a:fillRect/>
          </a:stretch>
        </p:blipFill>
        <p:spPr>
          <a:xfrm>
            <a:off x="4983480" y="4251960"/>
            <a:ext cx="384048" cy="384048"/>
          </a:xfrm>
          <a:prstGeom prst="rect">
            <a:avLst/>
          </a:prstGeom>
        </p:spPr>
      </p:pic>
      <p:sp>
        <p:nvSpPr>
          <p:cNvPr id="32" name="Text 20"/>
          <p:cNvSpPr/>
          <p:nvPr/>
        </p:nvSpPr>
        <p:spPr>
          <a:xfrm>
            <a:off x="5486400" y="4251960"/>
            <a:ext cx="3291840" cy="457200"/>
          </a:xfrm>
          <a:prstGeom prst="rect">
            <a:avLst/>
          </a:prstGeom>
          <a:noFill/>
          <a:ln/>
        </p:spPr>
        <p:txBody>
          <a:bodyPr wrap="square" rtlCol="0" anchor="ctr"/>
          <a:lstStyle/>
          <a:p>
            <a:pPr indent="0" marL="0">
              <a:buNone/>
            </a:pPr>
            <a:r>
              <a:rPr lang="en-US" sz="1300" dirty="0">
                <a:solidFill>
                  <a:srgbClr val="0F172A"/>
                </a:solidFill>
                <a:latin typeface="Arial" pitchFamily="34" charset="0"/>
                <a:ea typeface="Arial" pitchFamily="34" charset="-122"/>
                <a:cs typeface="Arial" pitchFamily="34" charset="-120"/>
              </a:rPr>
              <a:t>Hoàn toàn local, dùng subscription có sẵn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Cơ chế Dispatch &amp; Ledger (Điểm khác biệt cốt lõi)</a:t>
            </a:r>
            <a:endParaRPr lang="en-US" sz="2600" dirty="0"/>
          </a:p>
        </p:txBody>
      </p:sp>
      <p:sp>
        <p:nvSpPr>
          <p:cNvPr id="3" name="Shape 1"/>
          <p:cNvSpPr/>
          <p:nvPr/>
        </p:nvSpPr>
        <p:spPr>
          <a:xfrm>
            <a:off x="548640" y="1051560"/>
            <a:ext cx="548640" cy="548640"/>
          </a:xfrm>
          <a:prstGeom prst="ellipse">
            <a:avLst/>
          </a:prstGeom>
          <a:solidFill>
            <a:srgbClr val="22D3EE"/>
          </a:solidFill>
          <a:ln/>
        </p:spPr>
      </p:sp>
      <p:sp>
        <p:nvSpPr>
          <p:cNvPr id="4" name="Text 2"/>
          <p:cNvSpPr/>
          <p:nvPr/>
        </p:nvSpPr>
        <p:spPr>
          <a:xfrm>
            <a:off x="548640" y="1051560"/>
            <a:ext cx="548640" cy="548640"/>
          </a:xfrm>
          <a:prstGeom prst="rect">
            <a:avLst/>
          </a:prstGeom>
          <a:noFill/>
          <a:ln/>
        </p:spPr>
        <p:txBody>
          <a:bodyPr wrap="square" rtlCol="0" anchor="ctr"/>
          <a:lstStyle/>
          <a:p>
            <a:pPr algn="ctr" indent="0" marL="0">
              <a:buNone/>
            </a:pPr>
            <a:r>
              <a:rPr lang="en-US" sz="2000" b="1" dirty="0">
                <a:solidFill>
                  <a:srgbClr val="0B1120"/>
                </a:solidFill>
                <a:latin typeface="Arial" pitchFamily="34" charset="0"/>
                <a:ea typeface="Arial" pitchFamily="34" charset="-122"/>
                <a:cs typeface="Arial" pitchFamily="34" charset="-120"/>
              </a:rPr>
              <a:t>1</a:t>
            </a:r>
            <a:endParaRPr lang="en-US" sz="2000" dirty="0"/>
          </a:p>
        </p:txBody>
      </p:sp>
      <p:sp>
        <p:nvSpPr>
          <p:cNvPr id="5" name="Text 3"/>
          <p:cNvSpPr/>
          <p:nvPr/>
        </p:nvSpPr>
        <p:spPr>
          <a:xfrm>
            <a:off x="1280160" y="1033272"/>
            <a:ext cx="73152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Orchestrator emit tag</a:t>
            </a:r>
            <a:endParaRPr lang="en-US" sz="1500" dirty="0"/>
          </a:p>
        </p:txBody>
      </p:sp>
      <p:sp>
        <p:nvSpPr>
          <p:cNvPr id="6" name="Text 4"/>
          <p:cNvSpPr/>
          <p:nvPr/>
        </p:nvSpPr>
        <p:spPr>
          <a:xfrm>
            <a:off x="1280160" y="1371600"/>
            <a:ext cx="7315200" cy="45720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&lt;dispatch agent="DATA"&gt;Tóm tắt dữ liệu từ 2021-2024.&lt;/dispatch&gt;</a:t>
            </a:r>
            <a:endParaRPr lang="en-US" sz="1300" dirty="0"/>
          </a:p>
        </p:txBody>
      </p:sp>
      <p:sp>
        <p:nvSpPr>
          <p:cNvPr id="7" name="Shape 5"/>
          <p:cNvSpPr/>
          <p:nvPr/>
        </p:nvSpPr>
        <p:spPr>
          <a:xfrm>
            <a:off x="548640" y="2057400"/>
            <a:ext cx="548640" cy="548640"/>
          </a:xfrm>
          <a:prstGeom prst="ellipse">
            <a:avLst/>
          </a:prstGeom>
          <a:solidFill>
            <a:srgbClr val="22D3EE"/>
          </a:solidFill>
          <a:ln/>
        </p:spPr>
      </p:sp>
      <p:sp>
        <p:nvSpPr>
          <p:cNvPr id="8" name="Text 6"/>
          <p:cNvSpPr/>
          <p:nvPr/>
        </p:nvSpPr>
        <p:spPr>
          <a:xfrm>
            <a:off x="548640" y="2057400"/>
            <a:ext cx="548640" cy="548640"/>
          </a:xfrm>
          <a:prstGeom prst="rect">
            <a:avLst/>
          </a:prstGeom>
          <a:noFill/>
          <a:ln/>
        </p:spPr>
        <p:txBody>
          <a:bodyPr wrap="square" rtlCol="0" anchor="ctr"/>
          <a:lstStyle/>
          <a:p>
            <a:pPr algn="ctr" indent="0" marL="0">
              <a:buNone/>
            </a:pPr>
            <a:r>
              <a:rPr lang="en-US" sz="2000" b="1" dirty="0">
                <a:solidFill>
                  <a:srgbClr val="0B1120"/>
                </a:solidFill>
                <a:latin typeface="Arial" pitchFamily="34" charset="0"/>
                <a:ea typeface="Arial" pitchFamily="34" charset="-122"/>
                <a:cs typeface="Arial" pitchFamily="34" charset="-120"/>
              </a:rPr>
              <a:t>2</a:t>
            </a:r>
            <a:endParaRPr lang="en-US" sz="2000" dirty="0"/>
          </a:p>
        </p:txBody>
      </p:sp>
      <p:sp>
        <p:nvSpPr>
          <p:cNvPr id="9" name="Text 7"/>
          <p:cNvSpPr/>
          <p:nvPr/>
        </p:nvSpPr>
        <p:spPr>
          <a:xfrm>
            <a:off x="1280160" y="2039112"/>
            <a:ext cx="73152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Backend parse &amp; fire</a:t>
            </a:r>
            <a:endParaRPr lang="en-US" sz="1500" dirty="0"/>
          </a:p>
        </p:txBody>
      </p:sp>
      <p:sp>
        <p:nvSpPr>
          <p:cNvPr id="10" name="Text 8"/>
          <p:cNvSpPr/>
          <p:nvPr/>
        </p:nvSpPr>
        <p:spPr>
          <a:xfrm>
            <a:off x="1280160" y="2377440"/>
            <a:ext cx="7315200" cy="45720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Tách task, spawn worker qua cùng cơ chế _run_agent, emit dispatch_started.</a:t>
            </a:r>
            <a:endParaRPr lang="en-US" sz="1300" dirty="0"/>
          </a:p>
        </p:txBody>
      </p:sp>
      <p:sp>
        <p:nvSpPr>
          <p:cNvPr id="11" name="Shape 9"/>
          <p:cNvSpPr/>
          <p:nvPr/>
        </p:nvSpPr>
        <p:spPr>
          <a:xfrm>
            <a:off x="548640" y="3063240"/>
            <a:ext cx="548640" cy="548640"/>
          </a:xfrm>
          <a:prstGeom prst="ellipse">
            <a:avLst/>
          </a:prstGeom>
          <a:solidFill>
            <a:srgbClr val="22D3EE"/>
          </a:solidFill>
          <a:ln/>
        </p:spPr>
      </p:sp>
      <p:sp>
        <p:nvSpPr>
          <p:cNvPr id="12" name="Text 10"/>
          <p:cNvSpPr/>
          <p:nvPr/>
        </p:nvSpPr>
        <p:spPr>
          <a:xfrm>
            <a:off x="548640" y="3063240"/>
            <a:ext cx="548640" cy="548640"/>
          </a:xfrm>
          <a:prstGeom prst="rect">
            <a:avLst/>
          </a:prstGeom>
          <a:noFill/>
          <a:ln/>
        </p:spPr>
        <p:txBody>
          <a:bodyPr wrap="square" rtlCol="0" anchor="ctr"/>
          <a:lstStyle/>
          <a:p>
            <a:pPr algn="ctr" indent="0" marL="0">
              <a:buNone/>
            </a:pPr>
            <a:r>
              <a:rPr lang="en-US" sz="2000" b="1" dirty="0">
                <a:solidFill>
                  <a:srgbClr val="0B1120"/>
                </a:solidFill>
                <a:latin typeface="Arial" pitchFamily="34" charset="0"/>
                <a:ea typeface="Arial" pitchFamily="34" charset="-122"/>
                <a:cs typeface="Arial" pitchFamily="34" charset="-120"/>
              </a:rPr>
              <a:t>3</a:t>
            </a:r>
            <a:endParaRPr lang="en-US" sz="2000" dirty="0"/>
          </a:p>
        </p:txBody>
      </p:sp>
      <p:sp>
        <p:nvSpPr>
          <p:cNvPr id="13" name="Text 11"/>
          <p:cNvSpPr/>
          <p:nvPr/>
        </p:nvSpPr>
        <p:spPr>
          <a:xfrm>
            <a:off x="1280160" y="3044952"/>
            <a:ext cx="73152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Worker hoàn thành</a:t>
            </a:r>
            <a:endParaRPr lang="en-US" sz="1500" dirty="0"/>
          </a:p>
        </p:txBody>
      </p:sp>
      <p:sp>
        <p:nvSpPr>
          <p:cNvPr id="14" name="Text 12"/>
          <p:cNvSpPr/>
          <p:nvPr/>
        </p:nvSpPr>
        <p:spPr>
          <a:xfrm>
            <a:off x="1280160" y="3383280"/>
            <a:ext cx="7315200" cy="45720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Kết quả ghi vào dispatch_results (ledger) + stream về UI.</a:t>
            </a:r>
            <a:endParaRPr lang="en-US" sz="1300" dirty="0"/>
          </a:p>
        </p:txBody>
      </p:sp>
      <p:sp>
        <p:nvSpPr>
          <p:cNvPr id="15" name="Shape 13"/>
          <p:cNvSpPr/>
          <p:nvPr/>
        </p:nvSpPr>
        <p:spPr>
          <a:xfrm>
            <a:off x="548640" y="4069080"/>
            <a:ext cx="548640" cy="548640"/>
          </a:xfrm>
          <a:prstGeom prst="ellipse">
            <a:avLst/>
          </a:prstGeom>
          <a:solidFill>
            <a:srgbClr val="22D3EE"/>
          </a:solidFill>
          <a:ln/>
        </p:spPr>
      </p:sp>
      <p:sp>
        <p:nvSpPr>
          <p:cNvPr id="16" name="Text 14"/>
          <p:cNvSpPr/>
          <p:nvPr/>
        </p:nvSpPr>
        <p:spPr>
          <a:xfrm>
            <a:off x="548640" y="4069080"/>
            <a:ext cx="548640" cy="548640"/>
          </a:xfrm>
          <a:prstGeom prst="rect">
            <a:avLst/>
          </a:prstGeom>
          <a:noFill/>
          <a:ln/>
        </p:spPr>
        <p:txBody>
          <a:bodyPr wrap="square" rtlCol="0" anchor="ctr"/>
          <a:lstStyle/>
          <a:p>
            <a:pPr algn="ctr" indent="0" marL="0">
              <a:buNone/>
            </a:pPr>
            <a:r>
              <a:rPr lang="en-US" sz="2000" b="1" dirty="0">
                <a:solidFill>
                  <a:srgbClr val="0B1120"/>
                </a:solidFill>
                <a:latin typeface="Arial" pitchFamily="34" charset="0"/>
                <a:ea typeface="Arial" pitchFamily="34" charset="-122"/>
                <a:cs typeface="Arial" pitchFamily="34" charset="-120"/>
              </a:rPr>
              <a:t>4</a:t>
            </a:r>
            <a:endParaRPr lang="en-US" sz="2000" dirty="0"/>
          </a:p>
        </p:txBody>
      </p:sp>
      <p:sp>
        <p:nvSpPr>
          <p:cNvPr id="17" name="Text 15"/>
          <p:cNvSpPr/>
          <p:nvPr/>
        </p:nvSpPr>
        <p:spPr>
          <a:xfrm>
            <a:off x="1280160" y="4050792"/>
            <a:ext cx="73152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Auto-continuation</a:t>
            </a:r>
            <a:endParaRPr lang="en-US" sz="1500" dirty="0"/>
          </a:p>
        </p:txBody>
      </p:sp>
      <p:sp>
        <p:nvSpPr>
          <p:cNvPr id="18" name="Text 16"/>
          <p:cNvSpPr/>
          <p:nvPr/>
        </p:nvSpPr>
        <p:spPr>
          <a:xfrm>
            <a:off x="1280160" y="4389120"/>
            <a:ext cx="7315200" cy="45720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Orchestrator được enrich &lt;dispatch_result&gt; vào prompt — thấy được output thật.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Scheduler — Làm việc định kỳ thực sự</a:t>
            </a:r>
            <a:endParaRPr lang="en-US" sz="2800" dirty="0"/>
          </a:p>
        </p:txBody>
      </p:sp>
      <p:sp>
        <p:nvSpPr>
          <p:cNvPr id="3" name="Shape 1"/>
          <p:cNvSpPr/>
          <p:nvPr/>
        </p:nvSpPr>
        <p:spPr>
          <a:xfrm>
            <a:off x="457200" y="1005840"/>
            <a:ext cx="2697480" cy="1828800"/>
          </a:xfrm>
          <a:prstGeom prst="roundRect">
            <a:avLst>
              <a:gd name="adj" fmla="val 5000"/>
            </a:avLst>
          </a:prstGeom>
          <a:solidFill>
            <a:srgbClr val="FFFFFF"/>
          </a:solidFill>
          <a:ln/>
          <a:effectLst>
            <a:outerShdw sx="100000" sy="100000" kx="0" ky="0" algn="bl" rotWithShape="0" blurRad="63500" dist="12700" dir="8100000">
              <a:srgbClr val="000000">
                <a:alpha val="8000"/>
              </a:srgbClr>
            </a:outerShdw>
          </a:effectLst>
        </p:spPr>
      </p:sp>
      <p:sp>
        <p:nvSpPr>
          <p:cNvPr id="4" name="Text 2"/>
          <p:cNvSpPr/>
          <p:nvPr/>
        </p:nvSpPr>
        <p:spPr>
          <a:xfrm>
            <a:off x="594360" y="1143000"/>
            <a:ext cx="2423160" cy="365760"/>
          </a:xfrm>
          <a:prstGeom prst="rect">
            <a:avLst/>
          </a:prstGeom>
          <a:noFill/>
          <a:ln/>
        </p:spPr>
        <p:txBody>
          <a:bodyPr wrap="square" rtlCol="0" anchor="ctr"/>
          <a:lstStyle/>
          <a:p>
            <a:pPr indent="0" marL="0">
              <a:buNone/>
            </a:pPr>
            <a:r>
              <a:rPr lang="en-US" sz="1500" b="1" dirty="0">
                <a:solidFill>
                  <a:srgbClr val="06B6D4"/>
                </a:solidFill>
                <a:latin typeface="Arial" pitchFamily="34" charset="0"/>
                <a:ea typeface="Arial" pitchFamily="34" charset="-122"/>
                <a:cs typeface="Arial" pitchFamily="34" charset="-120"/>
              </a:rPr>
              <a:t>Interval</a:t>
            </a:r>
            <a:endParaRPr lang="en-US" sz="1500" dirty="0"/>
          </a:p>
        </p:txBody>
      </p:sp>
      <p:sp>
        <p:nvSpPr>
          <p:cNvPr id="5" name="Text 3"/>
          <p:cNvSpPr/>
          <p:nvPr/>
        </p:nvSpPr>
        <p:spPr>
          <a:xfrm>
            <a:off x="594360" y="1554480"/>
            <a:ext cx="2423160" cy="457200"/>
          </a:xfrm>
          <a:prstGeom prst="rect">
            <a:avLst/>
          </a:prstGeom>
          <a:noFill/>
          <a:ln/>
        </p:spPr>
        <p:txBody>
          <a:bodyPr wrap="square" rtlCol="0" anchor="ctr"/>
          <a:lstStyle/>
          <a:p>
            <a:pPr indent="0" marL="0">
              <a:buNone/>
            </a:pPr>
            <a:r>
              <a:rPr lang="en-US" sz="1200" dirty="0">
                <a:solidFill>
                  <a:srgbClr val="0F172A"/>
                </a:solidFill>
                <a:latin typeface="Consolas" pitchFamily="34" charset="0"/>
                <a:ea typeface="Consolas" pitchFamily="34" charset="-122"/>
                <a:cs typeface="Consolas" pitchFamily="34" charset="-120"/>
              </a:rPr>
              <a:t>every="30m" max="8"</a:t>
            </a:r>
            <a:endParaRPr lang="en-US" sz="1200" dirty="0"/>
          </a:p>
        </p:txBody>
      </p:sp>
      <p:sp>
        <p:nvSpPr>
          <p:cNvPr id="6" name="Text 4"/>
          <p:cNvSpPr/>
          <p:nvPr/>
        </p:nvSpPr>
        <p:spPr>
          <a:xfrm>
            <a:off x="594360" y="2103120"/>
            <a:ext cx="2423160" cy="5943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Chạy định kỳ cố định số lần</a:t>
            </a:r>
            <a:endParaRPr lang="en-US" sz="1200" dirty="0"/>
          </a:p>
        </p:txBody>
      </p:sp>
      <p:sp>
        <p:nvSpPr>
          <p:cNvPr id="7" name="Shape 5"/>
          <p:cNvSpPr/>
          <p:nvPr/>
        </p:nvSpPr>
        <p:spPr>
          <a:xfrm>
            <a:off x="3291840" y="1005840"/>
            <a:ext cx="2697480" cy="1828800"/>
          </a:xfrm>
          <a:prstGeom prst="roundRect">
            <a:avLst>
              <a:gd name="adj" fmla="val 5000"/>
            </a:avLst>
          </a:prstGeom>
          <a:solidFill>
            <a:srgbClr val="FFFFFF"/>
          </a:solidFill>
          <a:ln/>
          <a:effectLst>
            <a:outerShdw sx="100000" sy="100000" kx="0" ky="0" algn="bl" rotWithShape="0" blurRad="63500" dist="12700" dir="8100000">
              <a:srgbClr val="000000">
                <a:alpha val="8000"/>
              </a:srgbClr>
            </a:outerShdw>
          </a:effectLst>
        </p:spPr>
      </p:sp>
      <p:sp>
        <p:nvSpPr>
          <p:cNvPr id="8" name="Text 6"/>
          <p:cNvSpPr/>
          <p:nvPr/>
        </p:nvSpPr>
        <p:spPr>
          <a:xfrm>
            <a:off x="3429000" y="1143000"/>
            <a:ext cx="2423160" cy="365760"/>
          </a:xfrm>
          <a:prstGeom prst="rect">
            <a:avLst/>
          </a:prstGeom>
          <a:noFill/>
          <a:ln/>
        </p:spPr>
        <p:txBody>
          <a:bodyPr wrap="square" rtlCol="0" anchor="ctr"/>
          <a:lstStyle/>
          <a:p>
            <a:pPr indent="0" marL="0">
              <a:buNone/>
            </a:pPr>
            <a:r>
              <a:rPr lang="en-US" sz="1500" b="1" dirty="0">
                <a:solidFill>
                  <a:srgbClr val="06B6D4"/>
                </a:solidFill>
                <a:latin typeface="Arial" pitchFamily="34" charset="0"/>
                <a:ea typeface="Arial" pitchFamily="34" charset="-122"/>
                <a:cs typeface="Arial" pitchFamily="34" charset="-120"/>
              </a:rPr>
              <a:t>One-shot</a:t>
            </a:r>
            <a:endParaRPr lang="en-US" sz="1500" dirty="0"/>
          </a:p>
        </p:txBody>
      </p:sp>
      <p:sp>
        <p:nvSpPr>
          <p:cNvPr id="9" name="Text 7"/>
          <p:cNvSpPr/>
          <p:nvPr/>
        </p:nvSpPr>
        <p:spPr>
          <a:xfrm>
            <a:off x="3429000" y="1554480"/>
            <a:ext cx="2423160" cy="457200"/>
          </a:xfrm>
          <a:prstGeom prst="rect">
            <a:avLst/>
          </a:prstGeom>
          <a:noFill/>
          <a:ln/>
        </p:spPr>
        <p:txBody>
          <a:bodyPr wrap="square" rtlCol="0" anchor="ctr"/>
          <a:lstStyle/>
          <a:p>
            <a:pPr indent="0" marL="0">
              <a:buNone/>
            </a:pPr>
            <a:r>
              <a:rPr lang="en-US" sz="1200" dirty="0">
                <a:solidFill>
                  <a:srgbClr val="0F172A"/>
                </a:solidFill>
                <a:latin typeface="Consolas" pitchFamily="34" charset="0"/>
                <a:ea typeface="Consolas" pitchFamily="34" charset="-122"/>
                <a:cs typeface="Consolas" pitchFamily="34" charset="-120"/>
              </a:rPr>
              <a:t>in="2h"</a:t>
            </a:r>
            <a:endParaRPr lang="en-US" sz="1200" dirty="0"/>
          </a:p>
        </p:txBody>
      </p:sp>
      <p:sp>
        <p:nvSpPr>
          <p:cNvPr id="10" name="Text 8"/>
          <p:cNvSpPr/>
          <p:nvPr/>
        </p:nvSpPr>
        <p:spPr>
          <a:xfrm>
            <a:off x="3429000" y="2103120"/>
            <a:ext cx="2423160" cy="5943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Chạy 1 lần sau khoảng thời gian</a:t>
            </a:r>
            <a:endParaRPr lang="en-US" sz="1200" dirty="0"/>
          </a:p>
        </p:txBody>
      </p:sp>
      <p:sp>
        <p:nvSpPr>
          <p:cNvPr id="11" name="Shape 9"/>
          <p:cNvSpPr/>
          <p:nvPr/>
        </p:nvSpPr>
        <p:spPr>
          <a:xfrm>
            <a:off x="6126480" y="1005840"/>
            <a:ext cx="2697480" cy="1828800"/>
          </a:xfrm>
          <a:prstGeom prst="roundRect">
            <a:avLst>
              <a:gd name="adj" fmla="val 5000"/>
            </a:avLst>
          </a:prstGeom>
          <a:solidFill>
            <a:srgbClr val="FFFFFF"/>
          </a:solidFill>
          <a:ln/>
          <a:effectLst>
            <a:outerShdw sx="100000" sy="100000" kx="0" ky="0" algn="bl" rotWithShape="0" blurRad="63500" dist="12700" dir="8100000">
              <a:srgbClr val="000000">
                <a:alpha val="8000"/>
              </a:srgbClr>
            </a:outerShdw>
          </a:effectLst>
        </p:spPr>
      </p:sp>
      <p:sp>
        <p:nvSpPr>
          <p:cNvPr id="12" name="Text 10"/>
          <p:cNvSpPr/>
          <p:nvPr/>
        </p:nvSpPr>
        <p:spPr>
          <a:xfrm>
            <a:off x="6263640" y="1143000"/>
            <a:ext cx="2423160" cy="365760"/>
          </a:xfrm>
          <a:prstGeom prst="rect">
            <a:avLst/>
          </a:prstGeom>
          <a:noFill/>
          <a:ln/>
        </p:spPr>
        <p:txBody>
          <a:bodyPr wrap="square" rtlCol="0" anchor="ctr"/>
          <a:lstStyle/>
          <a:p>
            <a:pPr indent="0" marL="0">
              <a:buNone/>
            </a:pPr>
            <a:r>
              <a:rPr lang="en-US" sz="1500" b="1" dirty="0">
                <a:solidFill>
                  <a:srgbClr val="06B6D4"/>
                </a:solidFill>
                <a:latin typeface="Arial" pitchFamily="34" charset="0"/>
                <a:ea typeface="Arial" pitchFamily="34" charset="-122"/>
                <a:cs typeface="Arial" pitchFamily="34" charset="-120"/>
              </a:rPr>
              <a:t>Until (Goal Loop)</a:t>
            </a:r>
            <a:endParaRPr lang="en-US" sz="1500" dirty="0"/>
          </a:p>
        </p:txBody>
      </p:sp>
      <p:sp>
        <p:nvSpPr>
          <p:cNvPr id="13" name="Text 11"/>
          <p:cNvSpPr/>
          <p:nvPr/>
        </p:nvSpPr>
        <p:spPr>
          <a:xfrm>
            <a:off x="6263640" y="1554480"/>
            <a:ext cx="2423160" cy="457200"/>
          </a:xfrm>
          <a:prstGeom prst="rect">
            <a:avLst/>
          </a:prstGeom>
          <a:noFill/>
          <a:ln/>
        </p:spPr>
        <p:txBody>
          <a:bodyPr wrap="square" rtlCol="0" anchor="ctr"/>
          <a:lstStyle/>
          <a:p>
            <a:pPr indent="0" marL="0">
              <a:buNone/>
            </a:pPr>
            <a:r>
              <a:rPr lang="en-US" sz="1200" dirty="0">
                <a:solidFill>
                  <a:srgbClr val="0F172A"/>
                </a:solidFill>
                <a:latin typeface="Consolas" pitchFamily="34" charset="0"/>
                <a:ea typeface="Consolas" pitchFamily="34" charset="-122"/>
                <a:cs typeface="Consolas" pitchFamily="34" charset="-120"/>
              </a:rPr>
              <a:t>every="30m" until="..."</a:t>
            </a:r>
            <a:endParaRPr lang="en-US" sz="1200" dirty="0"/>
          </a:p>
        </p:txBody>
      </p:sp>
      <p:sp>
        <p:nvSpPr>
          <p:cNvPr id="14" name="Text 12"/>
          <p:cNvSpPr/>
          <p:nvPr/>
        </p:nvSpPr>
        <p:spPr>
          <a:xfrm>
            <a:off x="6263640" y="2103120"/>
            <a:ext cx="2423160" cy="5943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Lặp đến khi agent tự &lt;schedule_stop&gt;</a:t>
            </a:r>
            <a:endParaRPr lang="en-US" sz="1200" dirty="0"/>
          </a:p>
        </p:txBody>
      </p:sp>
      <p:sp>
        <p:nvSpPr>
          <p:cNvPr id="15" name="Shape 13"/>
          <p:cNvSpPr/>
          <p:nvPr/>
        </p:nvSpPr>
        <p:spPr>
          <a:xfrm>
            <a:off x="457200" y="3108960"/>
            <a:ext cx="8229600" cy="1737360"/>
          </a:xfrm>
          <a:prstGeom prst="roundRect">
            <a:avLst>
              <a:gd name="adj" fmla="val 5263"/>
            </a:avLst>
          </a:prstGeom>
          <a:solidFill>
            <a:srgbClr val="FEF3C7"/>
          </a:solidFill>
          <a:ln/>
        </p:spPr>
      </p:sp>
      <p:sp>
        <p:nvSpPr>
          <p:cNvPr id="16" name="Text 14"/>
          <p:cNvSpPr/>
          <p:nvPr/>
        </p:nvSpPr>
        <p:spPr>
          <a:xfrm>
            <a:off x="640080" y="3246120"/>
            <a:ext cx="786384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Tại sao quan trọng?</a:t>
            </a:r>
            <a:endParaRPr lang="en-US" sz="1400" dirty="0"/>
          </a:p>
        </p:txBody>
      </p:sp>
      <p:sp>
        <p:nvSpPr>
          <p:cNvPr id="17" name="Text 15"/>
          <p:cNvSpPr/>
          <p:nvPr/>
        </p:nvSpPr>
        <p:spPr>
          <a:xfrm>
            <a:off x="640080" y="3611880"/>
            <a:ext cx="7863840" cy="1097280"/>
          </a:xfrm>
          <a:prstGeom prst="rect">
            <a:avLst/>
          </a:prstGeom>
          <a:noFill/>
          <a:ln/>
        </p:spPr>
        <p:txBody>
          <a:bodyPr wrap="square" rtlCol="0" anchor="ctr"/>
          <a:lstStyle/>
          <a:p>
            <a:pPr indent="0" marL="0">
              <a:buNone/>
            </a:pPr>
            <a:r>
              <a:rPr lang="en-US" sz="1300" dirty="0">
                <a:solidFill>
                  <a:srgbClr val="0F172A"/>
                </a:solidFill>
                <a:latin typeface="Arial" pitchFamily="34" charset="0"/>
                <a:ea typeface="Arial" pitchFamily="34" charset="-122"/>
                <a:cs typeface="Arial" pitchFamily="34" charset="-120"/>
              </a:rPr>
              <a:t>Claude Code CLI (và hầu hết các CLI khác) không có cơ chế tự thức dậy. AgentUI cung cấp lớp control plane để thực hiện đúng những gì agent hứa hẹn — theo dõi job, polling, báo cáo định kỳ — mà không cần cron hay background process thủ công.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457200" y="182880"/>
            <a:ext cx="8229600" cy="41148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Giao diện thực tế</a:t>
            </a:r>
            <a:endParaRPr lang="en-US" sz="2200" dirty="0"/>
          </a:p>
        </p:txBody>
      </p:sp>
      <p:pic>
        <p:nvPicPr>
          <p:cNvPr id="3" name="Image 0" descr="/users/PGS0407/binben14/VietHuy/agent_code_IDLE/pitch-deck/screenshot.png">    </p:cNvPr>
          <p:cNvPicPr>
            <a:picLocks noChangeAspect="1"/>
          </p:cNvPicPr>
          <p:nvPr/>
        </p:nvPicPr>
        <p:blipFill>
          <a:blip r:embed="rId1"/>
          <a:srcRect l="0" r="0" t="0" b="0"/>
          <a:stretch/>
        </p:blipFill>
        <p:spPr>
          <a:xfrm>
            <a:off x="137160" y="640080"/>
            <a:ext cx="8869680" cy="4343400"/>
          </a:xfrm>
          <a:prstGeom prst="rect">
            <a:avLst/>
          </a:prstGeom>
        </p:spPr>
      </p:pic>
      <p:sp>
        <p:nvSpPr>
          <p:cNvPr id="4" name="Text 1"/>
          <p:cNvSpPr/>
          <p:nvPr/>
        </p:nvSpPr>
        <p:spPr>
          <a:xfrm>
            <a:off x="457200" y="4892040"/>
            <a:ext cx="8229600" cy="22860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Graph canvas + Floating windows + Live dispatch animation + Workspace tree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indent="0" marL="0">
              <a:buNone/>
            </a:pPr>
            <a:r>
              <a:rPr lang="en-US" sz="3200" b="1" dirty="0">
                <a:solidFill>
                  <a:srgbClr val="0F172A"/>
                </a:solidFill>
                <a:latin typeface="Arial" pitchFamily="34" charset="0"/>
                <a:ea typeface="Arial" pitchFamily="34" charset="-122"/>
                <a:cs typeface="Arial" pitchFamily="34" charset="-120"/>
              </a:rPr>
              <a:t>Kiến trúc</a:t>
            </a:r>
            <a:endParaRPr lang="en-US" sz="3200" dirty="0"/>
          </a:p>
        </p:txBody>
      </p:sp>
      <p:sp>
        <p:nvSpPr>
          <p:cNvPr id="3" name="Shape 1"/>
          <p:cNvSpPr/>
          <p:nvPr/>
        </p:nvSpPr>
        <p:spPr>
          <a:xfrm>
            <a:off x="457200" y="914400"/>
            <a:ext cx="109728" cy="868680"/>
          </a:xfrm>
          <a:prstGeom prst="rect">
            <a:avLst/>
          </a:prstGeom>
          <a:solidFill>
            <a:srgbClr val="22D3EE"/>
          </a:solidFill>
          <a:ln/>
        </p:spPr>
      </p:sp>
      <p:sp>
        <p:nvSpPr>
          <p:cNvPr id="4" name="Shape 2"/>
          <p:cNvSpPr/>
          <p:nvPr/>
        </p:nvSpPr>
        <p:spPr>
          <a:xfrm>
            <a:off x="566928" y="914400"/>
            <a:ext cx="8119872" cy="868680"/>
          </a:xfrm>
          <a:prstGeom prst="roundRect">
            <a:avLst>
              <a:gd name="adj" fmla="val 6316"/>
            </a:avLst>
          </a:prstGeom>
          <a:solidFill>
            <a:srgbClr val="FFFFFF"/>
          </a:solidFill>
          <a:ln/>
        </p:spPr>
      </p:sp>
      <p:sp>
        <p:nvSpPr>
          <p:cNvPr id="5" name="Text 3"/>
          <p:cNvSpPr/>
          <p:nvPr/>
        </p:nvSpPr>
        <p:spPr>
          <a:xfrm>
            <a:off x="777240" y="1005840"/>
            <a:ext cx="2011680" cy="320040"/>
          </a:xfrm>
          <a:prstGeom prst="rect">
            <a:avLst/>
          </a:prstGeom>
          <a:noFill/>
          <a:ln/>
        </p:spPr>
        <p:txBody>
          <a:bodyPr wrap="square" rtlCol="0" anchor="ctr"/>
          <a:lstStyle/>
          <a:p>
            <a:pPr indent="0" marL="0">
              <a:buNone/>
            </a:pPr>
            <a:r>
              <a:rPr lang="en-US" sz="1400" b="1" dirty="0">
                <a:solidFill>
                  <a:srgbClr val="06B6D4"/>
                </a:solidFill>
                <a:latin typeface="Arial" pitchFamily="34" charset="0"/>
                <a:ea typeface="Arial" pitchFamily="34" charset="-122"/>
                <a:cs typeface="Arial" pitchFamily="34" charset="-120"/>
              </a:rPr>
              <a:t>Frontend</a:t>
            </a:r>
            <a:endParaRPr lang="en-US" sz="1400" dirty="0"/>
          </a:p>
        </p:txBody>
      </p:sp>
      <p:sp>
        <p:nvSpPr>
          <p:cNvPr id="6" name="Text 4"/>
          <p:cNvSpPr/>
          <p:nvPr/>
        </p:nvSpPr>
        <p:spPr>
          <a:xfrm>
            <a:off x="2834640" y="1005840"/>
            <a:ext cx="557784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Vanilla JS + SVG Graph</a:t>
            </a:r>
            <a:endParaRPr lang="en-US" sz="1400" dirty="0"/>
          </a:p>
        </p:txBody>
      </p:sp>
      <p:sp>
        <p:nvSpPr>
          <p:cNvPr id="7" name="Text 5"/>
          <p:cNvSpPr/>
          <p:nvPr/>
        </p:nvSpPr>
        <p:spPr>
          <a:xfrm>
            <a:off x="777240" y="1371600"/>
            <a:ext cx="758952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Canvas đồ thị, floating windows, SSE consumer, window manager</a:t>
            </a:r>
            <a:endParaRPr lang="en-US" sz="1200" dirty="0"/>
          </a:p>
        </p:txBody>
      </p:sp>
      <p:sp>
        <p:nvSpPr>
          <p:cNvPr id="8" name="Shape 6"/>
          <p:cNvSpPr/>
          <p:nvPr/>
        </p:nvSpPr>
        <p:spPr>
          <a:xfrm>
            <a:off x="457200" y="1920240"/>
            <a:ext cx="109728" cy="868680"/>
          </a:xfrm>
          <a:prstGeom prst="rect">
            <a:avLst/>
          </a:prstGeom>
          <a:solidFill>
            <a:srgbClr val="22D3EE"/>
          </a:solidFill>
          <a:ln/>
        </p:spPr>
      </p:sp>
      <p:sp>
        <p:nvSpPr>
          <p:cNvPr id="9" name="Shape 7"/>
          <p:cNvSpPr/>
          <p:nvPr/>
        </p:nvSpPr>
        <p:spPr>
          <a:xfrm>
            <a:off x="566928" y="1920240"/>
            <a:ext cx="8119872" cy="868680"/>
          </a:xfrm>
          <a:prstGeom prst="roundRect">
            <a:avLst>
              <a:gd name="adj" fmla="val 6316"/>
            </a:avLst>
          </a:prstGeom>
          <a:solidFill>
            <a:srgbClr val="FFFFFF"/>
          </a:solidFill>
          <a:ln/>
        </p:spPr>
      </p:sp>
      <p:sp>
        <p:nvSpPr>
          <p:cNvPr id="10" name="Text 8"/>
          <p:cNvSpPr/>
          <p:nvPr/>
        </p:nvSpPr>
        <p:spPr>
          <a:xfrm>
            <a:off x="777240" y="2011680"/>
            <a:ext cx="2011680" cy="320040"/>
          </a:xfrm>
          <a:prstGeom prst="rect">
            <a:avLst/>
          </a:prstGeom>
          <a:noFill/>
          <a:ln/>
        </p:spPr>
        <p:txBody>
          <a:bodyPr wrap="square" rtlCol="0" anchor="ctr"/>
          <a:lstStyle/>
          <a:p>
            <a:pPr indent="0" marL="0">
              <a:buNone/>
            </a:pPr>
            <a:r>
              <a:rPr lang="en-US" sz="1400" b="1" dirty="0">
                <a:solidFill>
                  <a:srgbClr val="06B6D4"/>
                </a:solidFill>
                <a:latin typeface="Arial" pitchFamily="34" charset="0"/>
                <a:ea typeface="Arial" pitchFamily="34" charset="-122"/>
                <a:cs typeface="Arial" pitchFamily="34" charset="-120"/>
              </a:rPr>
              <a:t>Backend</a:t>
            </a:r>
            <a:endParaRPr lang="en-US" sz="1400" dirty="0"/>
          </a:p>
        </p:txBody>
      </p:sp>
      <p:sp>
        <p:nvSpPr>
          <p:cNvPr id="11" name="Text 9"/>
          <p:cNvSpPr/>
          <p:nvPr/>
        </p:nvSpPr>
        <p:spPr>
          <a:xfrm>
            <a:off x="2834640" y="2011680"/>
            <a:ext cx="557784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FastAPI + SQLite</a:t>
            </a:r>
            <a:endParaRPr lang="en-US" sz="1400" dirty="0"/>
          </a:p>
        </p:txBody>
      </p:sp>
      <p:sp>
        <p:nvSpPr>
          <p:cNvPr id="12" name="Text 10"/>
          <p:cNvSpPr/>
          <p:nvPr/>
        </p:nvSpPr>
        <p:spPr>
          <a:xfrm>
            <a:off x="777240" y="2377440"/>
            <a:ext cx="758952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REST + SSE, dispatch parser, scheduler loop, PTY adapters</a:t>
            </a:r>
            <a:endParaRPr lang="en-US" sz="1200" dirty="0"/>
          </a:p>
        </p:txBody>
      </p:sp>
      <p:sp>
        <p:nvSpPr>
          <p:cNvPr id="13" name="Shape 11"/>
          <p:cNvSpPr/>
          <p:nvPr/>
        </p:nvSpPr>
        <p:spPr>
          <a:xfrm>
            <a:off x="457200" y="2926080"/>
            <a:ext cx="109728" cy="868680"/>
          </a:xfrm>
          <a:prstGeom prst="rect">
            <a:avLst/>
          </a:prstGeom>
          <a:solidFill>
            <a:srgbClr val="22D3EE"/>
          </a:solidFill>
          <a:ln/>
        </p:spPr>
      </p:sp>
      <p:sp>
        <p:nvSpPr>
          <p:cNvPr id="14" name="Shape 12"/>
          <p:cNvSpPr/>
          <p:nvPr/>
        </p:nvSpPr>
        <p:spPr>
          <a:xfrm>
            <a:off x="566928" y="2926080"/>
            <a:ext cx="8119872" cy="868680"/>
          </a:xfrm>
          <a:prstGeom prst="roundRect">
            <a:avLst>
              <a:gd name="adj" fmla="val 6316"/>
            </a:avLst>
          </a:prstGeom>
          <a:solidFill>
            <a:srgbClr val="FFFFFF"/>
          </a:solidFill>
          <a:ln/>
        </p:spPr>
      </p:sp>
      <p:sp>
        <p:nvSpPr>
          <p:cNvPr id="15" name="Text 13"/>
          <p:cNvSpPr/>
          <p:nvPr/>
        </p:nvSpPr>
        <p:spPr>
          <a:xfrm>
            <a:off x="777240" y="3017520"/>
            <a:ext cx="2011680" cy="320040"/>
          </a:xfrm>
          <a:prstGeom prst="rect">
            <a:avLst/>
          </a:prstGeom>
          <a:noFill/>
          <a:ln/>
        </p:spPr>
        <p:txBody>
          <a:bodyPr wrap="square" rtlCol="0" anchor="ctr"/>
          <a:lstStyle/>
          <a:p>
            <a:pPr indent="0" marL="0">
              <a:buNone/>
            </a:pPr>
            <a:r>
              <a:rPr lang="en-US" sz="1400" b="1" dirty="0">
                <a:solidFill>
                  <a:srgbClr val="06B6D4"/>
                </a:solidFill>
                <a:latin typeface="Arial" pitchFamily="34" charset="0"/>
                <a:ea typeface="Arial" pitchFamily="34" charset="-122"/>
                <a:cs typeface="Arial" pitchFamily="34" charset="-120"/>
              </a:rPr>
              <a:t>Adapter Layer</a:t>
            </a:r>
            <a:endParaRPr lang="en-US" sz="1400" dirty="0"/>
          </a:p>
        </p:txBody>
      </p:sp>
      <p:sp>
        <p:nvSpPr>
          <p:cNvPr id="16" name="Text 14"/>
          <p:cNvSpPr/>
          <p:nvPr/>
        </p:nvSpPr>
        <p:spPr>
          <a:xfrm>
            <a:off x="2834640" y="3017520"/>
            <a:ext cx="557784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claude_stream / grok_stream</a:t>
            </a:r>
            <a:endParaRPr lang="en-US" sz="1400" dirty="0"/>
          </a:p>
        </p:txBody>
      </p:sp>
      <p:sp>
        <p:nvSpPr>
          <p:cNvPr id="17" name="Text 15"/>
          <p:cNvSpPr/>
          <p:nvPr/>
        </p:nvSpPr>
        <p:spPr>
          <a:xfrm>
            <a:off x="777240" y="3383280"/>
            <a:ext cx="758952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PTY + termios raw mode → streaming real-time, --resume support</a:t>
            </a:r>
            <a:endParaRPr lang="en-US" sz="1200" dirty="0"/>
          </a:p>
        </p:txBody>
      </p:sp>
      <p:sp>
        <p:nvSpPr>
          <p:cNvPr id="18" name="Shape 16"/>
          <p:cNvSpPr/>
          <p:nvPr/>
        </p:nvSpPr>
        <p:spPr>
          <a:xfrm>
            <a:off x="457200" y="3931920"/>
            <a:ext cx="109728" cy="868680"/>
          </a:xfrm>
          <a:prstGeom prst="rect">
            <a:avLst/>
          </a:prstGeom>
          <a:solidFill>
            <a:srgbClr val="22D3EE"/>
          </a:solidFill>
          <a:ln/>
        </p:spPr>
      </p:sp>
      <p:sp>
        <p:nvSpPr>
          <p:cNvPr id="19" name="Shape 17"/>
          <p:cNvSpPr/>
          <p:nvPr/>
        </p:nvSpPr>
        <p:spPr>
          <a:xfrm>
            <a:off x="566928" y="3931920"/>
            <a:ext cx="8119872" cy="868680"/>
          </a:xfrm>
          <a:prstGeom prst="roundRect">
            <a:avLst>
              <a:gd name="adj" fmla="val 6316"/>
            </a:avLst>
          </a:prstGeom>
          <a:solidFill>
            <a:srgbClr val="FFFFFF"/>
          </a:solidFill>
          <a:ln/>
        </p:spPr>
      </p:sp>
      <p:sp>
        <p:nvSpPr>
          <p:cNvPr id="20" name="Text 18"/>
          <p:cNvSpPr/>
          <p:nvPr/>
        </p:nvSpPr>
        <p:spPr>
          <a:xfrm>
            <a:off x="777240" y="4023360"/>
            <a:ext cx="2011680" cy="320040"/>
          </a:xfrm>
          <a:prstGeom prst="rect">
            <a:avLst/>
          </a:prstGeom>
          <a:noFill/>
          <a:ln/>
        </p:spPr>
        <p:txBody>
          <a:bodyPr wrap="square" rtlCol="0" anchor="ctr"/>
          <a:lstStyle/>
          <a:p>
            <a:pPr indent="0" marL="0">
              <a:buNone/>
            </a:pPr>
            <a:r>
              <a:rPr lang="en-US" sz="1400" b="1" dirty="0">
                <a:solidFill>
                  <a:srgbClr val="06B6D4"/>
                </a:solidFill>
                <a:latin typeface="Arial" pitchFamily="34" charset="0"/>
                <a:ea typeface="Arial" pitchFamily="34" charset="-122"/>
                <a:cs typeface="Arial" pitchFamily="34" charset="-120"/>
              </a:rPr>
              <a:t>Agent Projects</a:t>
            </a:r>
            <a:endParaRPr lang="en-US" sz="1400" dirty="0"/>
          </a:p>
        </p:txBody>
      </p:sp>
      <p:sp>
        <p:nvSpPr>
          <p:cNvPr id="21" name="Text 19"/>
          <p:cNvSpPr/>
          <p:nvPr/>
        </p:nvSpPr>
        <p:spPr>
          <a:xfrm>
            <a:off x="2834640" y="4023360"/>
            <a:ext cx="557784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.agentui/project.yaml + AGENT.md</a:t>
            </a:r>
            <a:endParaRPr lang="en-US" sz="1400" dirty="0"/>
          </a:p>
        </p:txBody>
      </p:sp>
      <p:sp>
        <p:nvSpPr>
          <p:cNvPr id="22" name="Text 20"/>
          <p:cNvSpPr/>
          <p:nvPr/>
        </p:nvSpPr>
        <p:spPr>
          <a:xfrm>
            <a:off x="777240" y="4389120"/>
            <a:ext cx="7589520" cy="36576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Graph được định nghĩa bởi user, bootstrap tự động từ BOSS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indent="0" marL="0">
              <a:buNone/>
            </a:pPr>
            <a:r>
              <a:rPr lang="en-US" sz="3000" b="1" dirty="0">
                <a:solidFill>
                  <a:srgbClr val="0F172A"/>
                </a:solidFill>
                <a:latin typeface="Arial" pitchFamily="34" charset="0"/>
                <a:ea typeface="Arial" pitchFamily="34" charset="-122"/>
                <a:cs typeface="Arial" pitchFamily="34" charset="-120"/>
              </a:rPr>
              <a:t>Công nghệ &amp; Triển khai</a:t>
            </a:r>
            <a:endParaRPr lang="en-US" sz="3000" dirty="0"/>
          </a:p>
        </p:txBody>
      </p:sp>
      <p:sp>
        <p:nvSpPr>
          <p:cNvPr id="3" name="Shape 1"/>
          <p:cNvSpPr/>
          <p:nvPr/>
        </p:nvSpPr>
        <p:spPr>
          <a:xfrm>
            <a:off x="457200" y="914400"/>
            <a:ext cx="4114800" cy="1188720"/>
          </a:xfrm>
          <a:prstGeom prst="roundRect">
            <a:avLst>
              <a:gd name="adj" fmla="val 6154"/>
            </a:avLst>
          </a:prstGeom>
          <a:solidFill>
            <a:srgbClr val="FFFFFF"/>
          </a:solidFill>
          <a:ln/>
        </p:spPr>
      </p:sp>
      <p:sp>
        <p:nvSpPr>
          <p:cNvPr id="4" name="Text 2"/>
          <p:cNvSpPr/>
          <p:nvPr/>
        </p:nvSpPr>
        <p:spPr>
          <a:xfrm>
            <a:off x="640080" y="1024128"/>
            <a:ext cx="3749040" cy="320040"/>
          </a:xfrm>
          <a:prstGeom prst="rect">
            <a:avLst/>
          </a:prstGeom>
          <a:noFill/>
          <a:ln/>
        </p:spPr>
        <p:txBody>
          <a:bodyPr wrap="square" rtlCol="0" anchor="ctr"/>
          <a:lstStyle/>
          <a:p>
            <a:pPr indent="0" marL="0">
              <a:buNone/>
            </a:pPr>
            <a:r>
              <a:rPr lang="en-US" sz="1400" b="1" dirty="0">
                <a:solidFill>
                  <a:srgbClr val="06B6D4"/>
                </a:solidFill>
                <a:latin typeface="Arial" pitchFamily="34" charset="0"/>
                <a:ea typeface="Arial" pitchFamily="34" charset="-122"/>
                <a:cs typeface="Arial" pitchFamily="34" charset="-120"/>
              </a:rPr>
              <a:t>Backend</a:t>
            </a:r>
            <a:endParaRPr lang="en-US" sz="1400" dirty="0"/>
          </a:p>
        </p:txBody>
      </p:sp>
      <p:sp>
        <p:nvSpPr>
          <p:cNvPr id="5" name="Text 3"/>
          <p:cNvSpPr/>
          <p:nvPr/>
        </p:nvSpPr>
        <p:spPr>
          <a:xfrm>
            <a:off x="640080" y="1371600"/>
            <a:ext cx="3749040" cy="640080"/>
          </a:xfrm>
          <a:prstGeom prst="rect">
            <a:avLst/>
          </a:prstGeom>
          <a:noFill/>
          <a:ln/>
        </p:spPr>
        <p:txBody>
          <a:bodyPr wrap="square" rtlCol="0" anchor="ctr"/>
          <a:lstStyle/>
          <a:p>
            <a:pPr indent="0" marL="0">
              <a:buNone/>
            </a:pPr>
            <a:r>
              <a:rPr lang="en-US" sz="1200" dirty="0">
                <a:solidFill>
                  <a:srgbClr val="0F172A"/>
                </a:solidFill>
                <a:latin typeface="Arial" pitchFamily="34" charset="0"/>
                <a:ea typeface="Arial" pitchFamily="34" charset="-122"/>
                <a:cs typeface="Arial" pitchFamily="34" charset="-120"/>
              </a:rPr>
              <a:t>FastAPI, Uvicorn, SQLite, asyncio, pty + termios</a:t>
            </a:r>
            <a:endParaRPr lang="en-US" sz="1200" dirty="0"/>
          </a:p>
        </p:txBody>
      </p:sp>
      <p:sp>
        <p:nvSpPr>
          <p:cNvPr id="6" name="Shape 4"/>
          <p:cNvSpPr/>
          <p:nvPr/>
        </p:nvSpPr>
        <p:spPr>
          <a:xfrm>
            <a:off x="4800600" y="914400"/>
            <a:ext cx="4114800" cy="1188720"/>
          </a:xfrm>
          <a:prstGeom prst="roundRect">
            <a:avLst>
              <a:gd name="adj" fmla="val 6154"/>
            </a:avLst>
          </a:prstGeom>
          <a:solidFill>
            <a:srgbClr val="FFFFFF"/>
          </a:solidFill>
          <a:ln/>
        </p:spPr>
      </p:sp>
      <p:sp>
        <p:nvSpPr>
          <p:cNvPr id="7" name="Text 5"/>
          <p:cNvSpPr/>
          <p:nvPr/>
        </p:nvSpPr>
        <p:spPr>
          <a:xfrm>
            <a:off x="4983480" y="1024128"/>
            <a:ext cx="3749040" cy="320040"/>
          </a:xfrm>
          <a:prstGeom prst="rect">
            <a:avLst/>
          </a:prstGeom>
          <a:noFill/>
          <a:ln/>
        </p:spPr>
        <p:txBody>
          <a:bodyPr wrap="square" rtlCol="0" anchor="ctr"/>
          <a:lstStyle/>
          <a:p>
            <a:pPr indent="0" marL="0">
              <a:buNone/>
            </a:pPr>
            <a:r>
              <a:rPr lang="en-US" sz="1400" b="1" dirty="0">
                <a:solidFill>
                  <a:srgbClr val="06B6D4"/>
                </a:solidFill>
                <a:latin typeface="Arial" pitchFamily="34" charset="0"/>
                <a:ea typeface="Arial" pitchFamily="34" charset="-122"/>
                <a:cs typeface="Arial" pitchFamily="34" charset="-120"/>
              </a:rPr>
              <a:t>Frontend</a:t>
            </a:r>
            <a:endParaRPr lang="en-US" sz="1400" dirty="0"/>
          </a:p>
        </p:txBody>
      </p:sp>
      <p:sp>
        <p:nvSpPr>
          <p:cNvPr id="8" name="Text 6"/>
          <p:cNvSpPr/>
          <p:nvPr/>
        </p:nvSpPr>
        <p:spPr>
          <a:xfrm>
            <a:off x="4983480" y="1371600"/>
            <a:ext cx="3749040" cy="640080"/>
          </a:xfrm>
          <a:prstGeom prst="rect">
            <a:avLst/>
          </a:prstGeom>
          <a:noFill/>
          <a:ln/>
        </p:spPr>
        <p:txBody>
          <a:bodyPr wrap="square" rtlCol="0" anchor="ctr"/>
          <a:lstStyle/>
          <a:p>
            <a:pPr indent="0" marL="0">
              <a:buNone/>
            </a:pPr>
            <a:r>
              <a:rPr lang="en-US" sz="1200" dirty="0">
                <a:solidFill>
                  <a:srgbClr val="0F172A"/>
                </a:solidFill>
                <a:latin typeface="Arial" pitchFamily="34" charset="0"/>
                <a:ea typeface="Arial" pitchFamily="34" charset="-122"/>
                <a:cs typeface="Arial" pitchFamily="34" charset="-120"/>
              </a:rPr>
              <a:t>Vanilla JS, SVG, marked.js + DOMPurify, xterm.js (terminal)</a:t>
            </a:r>
            <a:endParaRPr lang="en-US" sz="1200" dirty="0"/>
          </a:p>
        </p:txBody>
      </p:sp>
      <p:sp>
        <p:nvSpPr>
          <p:cNvPr id="9" name="Shape 7"/>
          <p:cNvSpPr/>
          <p:nvPr/>
        </p:nvSpPr>
        <p:spPr>
          <a:xfrm>
            <a:off x="457200" y="2240280"/>
            <a:ext cx="4114800" cy="1188720"/>
          </a:xfrm>
          <a:prstGeom prst="roundRect">
            <a:avLst>
              <a:gd name="adj" fmla="val 6154"/>
            </a:avLst>
          </a:prstGeom>
          <a:solidFill>
            <a:srgbClr val="FFFFFF"/>
          </a:solidFill>
          <a:ln/>
        </p:spPr>
      </p:sp>
      <p:sp>
        <p:nvSpPr>
          <p:cNvPr id="10" name="Text 8"/>
          <p:cNvSpPr/>
          <p:nvPr/>
        </p:nvSpPr>
        <p:spPr>
          <a:xfrm>
            <a:off x="640080" y="2350008"/>
            <a:ext cx="3749040" cy="320040"/>
          </a:xfrm>
          <a:prstGeom prst="rect">
            <a:avLst/>
          </a:prstGeom>
          <a:noFill/>
          <a:ln/>
        </p:spPr>
        <p:txBody>
          <a:bodyPr wrap="square" rtlCol="0" anchor="ctr"/>
          <a:lstStyle/>
          <a:p>
            <a:pPr indent="0" marL="0">
              <a:buNone/>
            </a:pPr>
            <a:r>
              <a:rPr lang="en-US" sz="1400" b="1" dirty="0">
                <a:solidFill>
                  <a:srgbClr val="06B6D4"/>
                </a:solidFill>
                <a:latin typeface="Arial" pitchFamily="34" charset="0"/>
                <a:ea typeface="Arial" pitchFamily="34" charset="-122"/>
                <a:cs typeface="Arial" pitchFamily="34" charset="-120"/>
              </a:rPr>
              <a:t>Streaming</a:t>
            </a:r>
            <a:endParaRPr lang="en-US" sz="1400" dirty="0"/>
          </a:p>
        </p:txBody>
      </p:sp>
      <p:sp>
        <p:nvSpPr>
          <p:cNvPr id="11" name="Text 9"/>
          <p:cNvSpPr/>
          <p:nvPr/>
        </p:nvSpPr>
        <p:spPr>
          <a:xfrm>
            <a:off x="640080" y="2697480"/>
            <a:ext cx="3749040" cy="640080"/>
          </a:xfrm>
          <a:prstGeom prst="rect">
            <a:avLst/>
          </a:prstGeom>
          <a:noFill/>
          <a:ln/>
        </p:spPr>
        <p:txBody>
          <a:bodyPr wrap="square" rtlCol="0" anchor="ctr"/>
          <a:lstStyle/>
          <a:p>
            <a:pPr indent="0" marL="0">
              <a:buNone/>
            </a:pPr>
            <a:r>
              <a:rPr lang="en-US" sz="1200" dirty="0">
                <a:solidFill>
                  <a:srgbClr val="0F172A"/>
                </a:solidFill>
                <a:latin typeface="Arial" pitchFamily="34" charset="0"/>
                <a:ea typeface="Arial" pitchFamily="34" charset="-122"/>
                <a:cs typeface="Arial" pitchFamily="34" charset="-120"/>
              </a:rPr>
              <a:t>Server-Sent Events (SSE), PTY raw mode, no buffering</a:t>
            </a:r>
            <a:endParaRPr lang="en-US" sz="1200" dirty="0"/>
          </a:p>
        </p:txBody>
      </p:sp>
      <p:sp>
        <p:nvSpPr>
          <p:cNvPr id="12" name="Shape 10"/>
          <p:cNvSpPr/>
          <p:nvPr/>
        </p:nvSpPr>
        <p:spPr>
          <a:xfrm>
            <a:off x="4800600" y="2240280"/>
            <a:ext cx="4114800" cy="1188720"/>
          </a:xfrm>
          <a:prstGeom prst="roundRect">
            <a:avLst>
              <a:gd name="adj" fmla="val 6154"/>
            </a:avLst>
          </a:prstGeom>
          <a:solidFill>
            <a:srgbClr val="FFFFFF"/>
          </a:solidFill>
          <a:ln/>
        </p:spPr>
      </p:sp>
      <p:sp>
        <p:nvSpPr>
          <p:cNvPr id="13" name="Text 11"/>
          <p:cNvSpPr/>
          <p:nvPr/>
        </p:nvSpPr>
        <p:spPr>
          <a:xfrm>
            <a:off x="4983480" y="2350008"/>
            <a:ext cx="3749040" cy="320040"/>
          </a:xfrm>
          <a:prstGeom prst="rect">
            <a:avLst/>
          </a:prstGeom>
          <a:noFill/>
          <a:ln/>
        </p:spPr>
        <p:txBody>
          <a:bodyPr wrap="square" rtlCol="0" anchor="ctr"/>
          <a:lstStyle/>
          <a:p>
            <a:pPr indent="0" marL="0">
              <a:buNone/>
            </a:pPr>
            <a:r>
              <a:rPr lang="en-US" sz="1400" b="1" dirty="0">
                <a:solidFill>
                  <a:srgbClr val="06B6D4"/>
                </a:solidFill>
                <a:latin typeface="Arial" pitchFamily="34" charset="0"/>
                <a:ea typeface="Arial" pitchFamily="34" charset="-122"/>
                <a:cs typeface="Arial" pitchFamily="34" charset="-120"/>
              </a:rPr>
              <a:t>Agent Models</a:t>
            </a:r>
            <a:endParaRPr lang="en-US" sz="1400" dirty="0"/>
          </a:p>
        </p:txBody>
      </p:sp>
      <p:sp>
        <p:nvSpPr>
          <p:cNvPr id="14" name="Text 12"/>
          <p:cNvSpPr/>
          <p:nvPr/>
        </p:nvSpPr>
        <p:spPr>
          <a:xfrm>
            <a:off x="4983480" y="2697480"/>
            <a:ext cx="3749040" cy="640080"/>
          </a:xfrm>
          <a:prstGeom prst="rect">
            <a:avLst/>
          </a:prstGeom>
          <a:noFill/>
          <a:ln/>
        </p:spPr>
        <p:txBody>
          <a:bodyPr wrap="square" rtlCol="0" anchor="ctr"/>
          <a:lstStyle/>
          <a:p>
            <a:pPr indent="0" marL="0">
              <a:buNone/>
            </a:pPr>
            <a:r>
              <a:rPr lang="en-US" sz="1200" dirty="0">
                <a:solidFill>
                  <a:srgbClr val="0F172A"/>
                </a:solidFill>
                <a:latin typeface="Arial" pitchFamily="34" charset="0"/>
                <a:ea typeface="Arial" pitchFamily="34" charset="-122"/>
                <a:cs typeface="Arial" pitchFamily="34" charset="-120"/>
              </a:rPr>
              <a:t>Claude Opus 4.8/4.7, Sonnet 4.6, Haiku 4.5 qua claude -p</a:t>
            </a:r>
            <a:endParaRPr lang="en-US" sz="1200" dirty="0"/>
          </a:p>
          <a:p>
            <a:pPr indent="0" marL="0">
              <a:buNone/>
            </a:pPr>
            <a:r>
              <a:rPr lang="en-US" sz="1200" dirty="0">
                <a:solidFill>
                  <a:srgbClr val="0F172A"/>
                </a:solidFill>
                <a:latin typeface="Arial" pitchFamily="34" charset="0"/>
                <a:ea typeface="Arial" pitchFamily="34" charset="-122"/>
                <a:cs typeface="Arial" pitchFamily="34" charset="-120"/>
              </a:rPr>
              <a:t>Grok qua aas (tùy chọn)</a:t>
            </a:r>
            <a:endParaRPr lang="en-US" sz="1200" dirty="0"/>
          </a:p>
        </p:txBody>
      </p:sp>
      <p:sp>
        <p:nvSpPr>
          <p:cNvPr id="15" name="Shape 13"/>
          <p:cNvSpPr/>
          <p:nvPr/>
        </p:nvSpPr>
        <p:spPr>
          <a:xfrm>
            <a:off x="457200" y="3566160"/>
            <a:ext cx="4114800" cy="1188720"/>
          </a:xfrm>
          <a:prstGeom prst="roundRect">
            <a:avLst>
              <a:gd name="adj" fmla="val 6154"/>
            </a:avLst>
          </a:prstGeom>
          <a:solidFill>
            <a:srgbClr val="FFFFFF"/>
          </a:solidFill>
          <a:ln/>
        </p:spPr>
      </p:sp>
      <p:sp>
        <p:nvSpPr>
          <p:cNvPr id="16" name="Text 14"/>
          <p:cNvSpPr/>
          <p:nvPr/>
        </p:nvSpPr>
        <p:spPr>
          <a:xfrm>
            <a:off x="640080" y="3675888"/>
            <a:ext cx="3749040" cy="320040"/>
          </a:xfrm>
          <a:prstGeom prst="rect">
            <a:avLst/>
          </a:prstGeom>
          <a:noFill/>
          <a:ln/>
        </p:spPr>
        <p:txBody>
          <a:bodyPr wrap="square" rtlCol="0" anchor="ctr"/>
          <a:lstStyle/>
          <a:p>
            <a:pPr indent="0" marL="0">
              <a:buNone/>
            </a:pPr>
            <a:r>
              <a:rPr lang="en-US" sz="1400" b="1" dirty="0">
                <a:solidFill>
                  <a:srgbClr val="06B6D4"/>
                </a:solidFill>
                <a:latin typeface="Arial" pitchFamily="34" charset="0"/>
                <a:ea typeface="Arial" pitchFamily="34" charset="-122"/>
                <a:cs typeface="Arial" pitchFamily="34" charset="-120"/>
              </a:rPr>
              <a:t>Cài đặt</a:t>
            </a:r>
            <a:endParaRPr lang="en-US" sz="1400" dirty="0"/>
          </a:p>
        </p:txBody>
      </p:sp>
      <p:sp>
        <p:nvSpPr>
          <p:cNvPr id="17" name="Text 15"/>
          <p:cNvSpPr/>
          <p:nvPr/>
        </p:nvSpPr>
        <p:spPr>
          <a:xfrm>
            <a:off x="640080" y="4023360"/>
            <a:ext cx="3749040" cy="640080"/>
          </a:xfrm>
          <a:prstGeom prst="rect">
            <a:avLst/>
          </a:prstGeom>
          <a:noFill/>
          <a:ln/>
        </p:spPr>
        <p:txBody>
          <a:bodyPr wrap="square" rtlCol="0" anchor="ctr"/>
          <a:lstStyle/>
          <a:p>
            <a:pPr indent="0" marL="0">
              <a:buNone/>
            </a:pPr>
            <a:r>
              <a:rPr lang="en-US" sz="1200" dirty="0">
                <a:solidFill>
                  <a:srgbClr val="0F172A"/>
                </a:solidFill>
                <a:latin typeface="Arial" pitchFamily="34" charset="0"/>
                <a:ea typeface="Arial" pitchFamily="34" charset="-122"/>
                <a:cs typeface="Arial" pitchFamily="34" charset="-120"/>
              </a:rPr>
              <a:t>./run.sh → tạo .venv → uvicorn → http://127.0.0.1:5174</a:t>
            </a:r>
            <a:endParaRPr lang="en-US" sz="1200" dirty="0"/>
          </a:p>
        </p:txBody>
      </p:sp>
      <p:sp>
        <p:nvSpPr>
          <p:cNvPr id="18" name="Shape 16"/>
          <p:cNvSpPr/>
          <p:nvPr/>
        </p:nvSpPr>
        <p:spPr>
          <a:xfrm>
            <a:off x="4800600" y="3566160"/>
            <a:ext cx="4114800" cy="1188720"/>
          </a:xfrm>
          <a:prstGeom prst="roundRect">
            <a:avLst>
              <a:gd name="adj" fmla="val 6154"/>
            </a:avLst>
          </a:prstGeom>
          <a:solidFill>
            <a:srgbClr val="FFFFFF"/>
          </a:solidFill>
          <a:ln/>
        </p:spPr>
      </p:sp>
      <p:sp>
        <p:nvSpPr>
          <p:cNvPr id="19" name="Text 17"/>
          <p:cNvSpPr/>
          <p:nvPr/>
        </p:nvSpPr>
        <p:spPr>
          <a:xfrm>
            <a:off x="4983480" y="3675888"/>
            <a:ext cx="3749040" cy="320040"/>
          </a:xfrm>
          <a:prstGeom prst="rect">
            <a:avLst/>
          </a:prstGeom>
          <a:noFill/>
          <a:ln/>
        </p:spPr>
        <p:txBody>
          <a:bodyPr wrap="square" rtlCol="0" anchor="ctr"/>
          <a:lstStyle/>
          <a:p>
            <a:pPr indent="0" marL="0">
              <a:buNone/>
            </a:pPr>
            <a:r>
              <a:rPr lang="en-US" sz="1400" b="1" dirty="0">
                <a:solidFill>
                  <a:srgbClr val="06B6D4"/>
                </a:solidFill>
                <a:latin typeface="Arial" pitchFamily="34" charset="0"/>
                <a:ea typeface="Arial" pitchFamily="34" charset="-122"/>
                <a:cs typeface="Arial" pitchFamily="34" charset="-120"/>
              </a:rPr>
              <a:t>Deploy</a:t>
            </a:r>
            <a:endParaRPr lang="en-US" sz="1400" dirty="0"/>
          </a:p>
        </p:txBody>
      </p:sp>
      <p:sp>
        <p:nvSpPr>
          <p:cNvPr id="20" name="Text 18"/>
          <p:cNvSpPr/>
          <p:nvPr/>
        </p:nvSpPr>
        <p:spPr>
          <a:xfrm>
            <a:off x="4983480" y="4023360"/>
            <a:ext cx="3749040" cy="640080"/>
          </a:xfrm>
          <a:prstGeom prst="rect">
            <a:avLst/>
          </a:prstGeom>
          <a:noFill/>
          <a:ln/>
        </p:spPr>
        <p:txBody>
          <a:bodyPr wrap="square" rtlCol="0" anchor="ctr"/>
          <a:lstStyle/>
          <a:p>
            <a:pPr indent="0" marL="0">
              <a:buNone/>
            </a:pPr>
            <a:r>
              <a:rPr lang="en-US" sz="1200" dirty="0">
                <a:solidFill>
                  <a:srgbClr val="0F172A"/>
                </a:solidFill>
                <a:latin typeface="Arial" pitchFamily="34" charset="0"/>
                <a:ea typeface="Arial" pitchFamily="34" charset="-122"/>
                <a:cs typeface="Arial" pitchFamily="34" charset="-120"/>
              </a:rPr>
              <a:t>SSH tunnel + systemd (xem DEPLOY.md). Dùng cho remote server cá nhân.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Điểm khác biệt so với các công cụ khác</a:t>
            </a:r>
            <a:endParaRPr lang="en-US" sz="2600" dirty="0"/>
          </a:p>
        </p:txBody>
      </p:sp>
      <p:sp>
        <p:nvSpPr>
          <p:cNvPr id="3" name="Shape 1"/>
          <p:cNvSpPr/>
          <p:nvPr/>
        </p:nvSpPr>
        <p:spPr>
          <a:xfrm>
            <a:off x="457200" y="914400"/>
            <a:ext cx="4114800" cy="1188720"/>
          </a:xfrm>
          <a:prstGeom prst="roundRect">
            <a:avLst>
              <a:gd name="adj" fmla="val 6154"/>
            </a:avLst>
          </a:prstGeom>
          <a:solidFill>
            <a:srgbClr val="FFFFFF"/>
          </a:solidFill>
          <a:ln/>
        </p:spPr>
      </p:sp>
      <p:pic>
        <p:nvPicPr>
          <p:cNvPr id="4" name="Image 0" descr="preencoded.png">    </p:cNvPr>
          <p:cNvPicPr>
            <a:picLocks noChangeAspect="1"/>
          </p:cNvPicPr>
          <p:nvPr/>
        </p:nvPicPr>
        <p:blipFill>
          <a:blip r:embed="rId1"/>
          <a:stretch>
            <a:fillRect/>
          </a:stretch>
        </p:blipFill>
        <p:spPr>
          <a:xfrm>
            <a:off x="594360" y="1051560"/>
            <a:ext cx="347472" cy="347472"/>
          </a:xfrm>
          <a:prstGeom prst="rect">
            <a:avLst/>
          </a:prstGeom>
        </p:spPr>
      </p:pic>
      <p:sp>
        <p:nvSpPr>
          <p:cNvPr id="5" name="Text 2"/>
          <p:cNvSpPr/>
          <p:nvPr/>
        </p:nvSpPr>
        <p:spPr>
          <a:xfrm>
            <a:off x="1051560" y="1051560"/>
            <a:ext cx="333756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Không tốn API key riêng</a:t>
            </a:r>
            <a:endParaRPr lang="en-US" sz="1300" dirty="0"/>
          </a:p>
        </p:txBody>
      </p:sp>
      <p:sp>
        <p:nvSpPr>
          <p:cNvPr id="6" name="Text 3"/>
          <p:cNvSpPr/>
          <p:nvPr/>
        </p:nvSpPr>
        <p:spPr>
          <a:xfrm>
            <a:off x="594360" y="1463040"/>
            <a:ext cx="3840480" cy="54864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Dùng subscription Claude/Grok bạn đã trả tiền. Không thêm billing.</a:t>
            </a:r>
            <a:endParaRPr lang="en-US" sz="1200" dirty="0"/>
          </a:p>
        </p:txBody>
      </p:sp>
      <p:sp>
        <p:nvSpPr>
          <p:cNvPr id="7" name="Shape 4"/>
          <p:cNvSpPr/>
          <p:nvPr/>
        </p:nvSpPr>
        <p:spPr>
          <a:xfrm>
            <a:off x="4800600" y="914400"/>
            <a:ext cx="4114800" cy="1188720"/>
          </a:xfrm>
          <a:prstGeom prst="roundRect">
            <a:avLst>
              <a:gd name="adj" fmla="val 6154"/>
            </a:avLst>
          </a:prstGeom>
          <a:solidFill>
            <a:srgbClr val="FFFFFF"/>
          </a:solidFill>
          <a:ln/>
        </p:spPr>
      </p:sp>
      <p:pic>
        <p:nvPicPr>
          <p:cNvPr id="8" name="Image 1" descr="preencoded.png">    </p:cNvPr>
          <p:cNvPicPr>
            <a:picLocks noChangeAspect="1"/>
          </p:cNvPicPr>
          <p:nvPr/>
        </p:nvPicPr>
        <p:blipFill>
          <a:blip r:embed="rId2"/>
          <a:stretch>
            <a:fillRect/>
          </a:stretch>
        </p:blipFill>
        <p:spPr>
          <a:xfrm>
            <a:off x="4937760" y="1051560"/>
            <a:ext cx="347472" cy="347472"/>
          </a:xfrm>
          <a:prstGeom prst="rect">
            <a:avLst/>
          </a:prstGeom>
        </p:spPr>
      </p:pic>
      <p:sp>
        <p:nvSpPr>
          <p:cNvPr id="9" name="Text 5"/>
          <p:cNvSpPr/>
          <p:nvPr/>
        </p:nvSpPr>
        <p:spPr>
          <a:xfrm>
            <a:off x="5394960" y="1051560"/>
            <a:ext cx="333756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Observability cao nhất</a:t>
            </a:r>
            <a:endParaRPr lang="en-US" sz="1300" dirty="0"/>
          </a:p>
        </p:txBody>
      </p:sp>
      <p:sp>
        <p:nvSpPr>
          <p:cNvPr id="10" name="Text 6"/>
          <p:cNvSpPr/>
          <p:nvPr/>
        </p:nvSpPr>
        <p:spPr>
          <a:xfrm>
            <a:off x="4937760" y="1463040"/>
            <a:ext cx="3840480" cy="54864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Graph sáng lên khi dispatch xảy ra. Bạn thấy sự thật, không phải lời kể.</a:t>
            </a:r>
            <a:endParaRPr lang="en-US" sz="1200" dirty="0"/>
          </a:p>
        </p:txBody>
      </p:sp>
      <p:sp>
        <p:nvSpPr>
          <p:cNvPr id="11" name="Shape 7"/>
          <p:cNvSpPr/>
          <p:nvPr/>
        </p:nvSpPr>
        <p:spPr>
          <a:xfrm>
            <a:off x="457200" y="2240280"/>
            <a:ext cx="4114800" cy="1188720"/>
          </a:xfrm>
          <a:prstGeom prst="roundRect">
            <a:avLst>
              <a:gd name="adj" fmla="val 6154"/>
            </a:avLst>
          </a:prstGeom>
          <a:solidFill>
            <a:srgbClr val="FFFFFF"/>
          </a:solidFill>
          <a:ln/>
        </p:spPr>
      </p:sp>
      <p:pic>
        <p:nvPicPr>
          <p:cNvPr id="12" name="Image 2" descr="preencoded.png">    </p:cNvPr>
          <p:cNvPicPr>
            <a:picLocks noChangeAspect="1"/>
          </p:cNvPicPr>
          <p:nvPr/>
        </p:nvPicPr>
        <p:blipFill>
          <a:blip r:embed="rId3"/>
          <a:stretch>
            <a:fillRect/>
          </a:stretch>
        </p:blipFill>
        <p:spPr>
          <a:xfrm>
            <a:off x="594360" y="2377440"/>
            <a:ext cx="347472" cy="347472"/>
          </a:xfrm>
          <a:prstGeom prst="rect">
            <a:avLst/>
          </a:prstGeom>
        </p:spPr>
      </p:pic>
      <p:sp>
        <p:nvSpPr>
          <p:cNvPr id="13" name="Text 8"/>
          <p:cNvSpPr/>
          <p:nvPr/>
        </p:nvSpPr>
        <p:spPr>
          <a:xfrm>
            <a:off x="1051560" y="2377440"/>
            <a:ext cx="333756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Feedback loop thật</a:t>
            </a:r>
            <a:endParaRPr lang="en-US" sz="1300" dirty="0"/>
          </a:p>
        </p:txBody>
      </p:sp>
      <p:sp>
        <p:nvSpPr>
          <p:cNvPr id="14" name="Text 9"/>
          <p:cNvSpPr/>
          <p:nvPr/>
        </p:nvSpPr>
        <p:spPr>
          <a:xfrm>
            <a:off x="594360" y="2788920"/>
            <a:ext cx="3840480" cy="54864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Ledger + auto-continuation giải quyết vấn đề 'orchestrator không biết worker kết quả'.</a:t>
            </a:r>
            <a:endParaRPr lang="en-US" sz="1200" dirty="0"/>
          </a:p>
        </p:txBody>
      </p:sp>
      <p:sp>
        <p:nvSpPr>
          <p:cNvPr id="15" name="Shape 10"/>
          <p:cNvSpPr/>
          <p:nvPr/>
        </p:nvSpPr>
        <p:spPr>
          <a:xfrm>
            <a:off x="4800600" y="2240280"/>
            <a:ext cx="4114800" cy="1188720"/>
          </a:xfrm>
          <a:prstGeom prst="roundRect">
            <a:avLst>
              <a:gd name="adj" fmla="val 6154"/>
            </a:avLst>
          </a:prstGeom>
          <a:solidFill>
            <a:srgbClr val="FFFFFF"/>
          </a:solidFill>
          <a:ln/>
        </p:spPr>
      </p:sp>
      <p:pic>
        <p:nvPicPr>
          <p:cNvPr id="16" name="Image 3" descr="preencoded.png">    </p:cNvPr>
          <p:cNvPicPr>
            <a:picLocks noChangeAspect="1"/>
          </p:cNvPicPr>
          <p:nvPr/>
        </p:nvPicPr>
        <p:blipFill>
          <a:blip r:embed="rId4"/>
          <a:stretch>
            <a:fillRect/>
          </a:stretch>
        </p:blipFill>
        <p:spPr>
          <a:xfrm>
            <a:off x="4937760" y="2377440"/>
            <a:ext cx="347472" cy="347472"/>
          </a:xfrm>
          <a:prstGeom prst="rect">
            <a:avLst/>
          </a:prstGeom>
        </p:spPr>
      </p:pic>
      <p:sp>
        <p:nvSpPr>
          <p:cNvPr id="17" name="Text 11"/>
          <p:cNvSpPr/>
          <p:nvPr/>
        </p:nvSpPr>
        <p:spPr>
          <a:xfrm>
            <a:off x="5394960" y="2377440"/>
            <a:ext cx="333756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Scheduling built-in</a:t>
            </a:r>
            <a:endParaRPr lang="en-US" sz="1300" dirty="0"/>
          </a:p>
        </p:txBody>
      </p:sp>
      <p:sp>
        <p:nvSpPr>
          <p:cNvPr id="18" name="Text 12"/>
          <p:cNvSpPr/>
          <p:nvPr/>
        </p:nvSpPr>
        <p:spPr>
          <a:xfrm>
            <a:off x="4937760" y="2788920"/>
            <a:ext cx="3840480" cy="54864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Goal-driven loop, recurring tasks hoạt động mà không cần cron hay daemon riêng.</a:t>
            </a:r>
            <a:endParaRPr lang="en-US" sz="1200" dirty="0"/>
          </a:p>
        </p:txBody>
      </p:sp>
      <p:sp>
        <p:nvSpPr>
          <p:cNvPr id="19" name="Shape 13"/>
          <p:cNvSpPr/>
          <p:nvPr/>
        </p:nvSpPr>
        <p:spPr>
          <a:xfrm>
            <a:off x="457200" y="3566160"/>
            <a:ext cx="4114800" cy="1188720"/>
          </a:xfrm>
          <a:prstGeom prst="roundRect">
            <a:avLst>
              <a:gd name="adj" fmla="val 6154"/>
            </a:avLst>
          </a:prstGeom>
          <a:solidFill>
            <a:srgbClr val="FFFFFF"/>
          </a:solidFill>
          <a:ln/>
        </p:spPr>
      </p:sp>
      <p:pic>
        <p:nvPicPr>
          <p:cNvPr id="20" name="Image 4" descr="preencoded.png">    </p:cNvPr>
          <p:cNvPicPr>
            <a:picLocks noChangeAspect="1"/>
          </p:cNvPicPr>
          <p:nvPr/>
        </p:nvPicPr>
        <p:blipFill>
          <a:blip r:embed="rId5"/>
          <a:stretch>
            <a:fillRect/>
          </a:stretch>
        </p:blipFill>
        <p:spPr>
          <a:xfrm>
            <a:off x="594360" y="3703320"/>
            <a:ext cx="347472" cy="347472"/>
          </a:xfrm>
          <a:prstGeom prst="rect">
            <a:avLst/>
          </a:prstGeom>
        </p:spPr>
      </p:pic>
      <p:sp>
        <p:nvSpPr>
          <p:cNvPr id="21" name="Text 14"/>
          <p:cNvSpPr/>
          <p:nvPr/>
        </p:nvSpPr>
        <p:spPr>
          <a:xfrm>
            <a:off x="1051560" y="3703320"/>
            <a:ext cx="333756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UX desktop-class</a:t>
            </a:r>
            <a:endParaRPr lang="en-US" sz="1300" dirty="0"/>
          </a:p>
        </p:txBody>
      </p:sp>
      <p:sp>
        <p:nvSpPr>
          <p:cNvPr id="22" name="Text 15"/>
          <p:cNvSpPr/>
          <p:nvPr/>
        </p:nvSpPr>
        <p:spPr>
          <a:xfrm>
            <a:off x="594360" y="4114800"/>
            <a:ext cx="3840480" cy="54864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Floating windows, multi-chat, drag node, file tree — không phải chat log đơn giản.</a:t>
            </a:r>
            <a:endParaRPr lang="en-US" sz="1200" dirty="0"/>
          </a:p>
        </p:txBody>
      </p:sp>
      <p:sp>
        <p:nvSpPr>
          <p:cNvPr id="23" name="Shape 16"/>
          <p:cNvSpPr/>
          <p:nvPr/>
        </p:nvSpPr>
        <p:spPr>
          <a:xfrm>
            <a:off x="4800600" y="3566160"/>
            <a:ext cx="4114800" cy="1188720"/>
          </a:xfrm>
          <a:prstGeom prst="roundRect">
            <a:avLst>
              <a:gd name="adj" fmla="val 6154"/>
            </a:avLst>
          </a:prstGeom>
          <a:solidFill>
            <a:srgbClr val="FFFFFF"/>
          </a:solidFill>
          <a:ln/>
        </p:spPr>
      </p:sp>
      <p:pic>
        <p:nvPicPr>
          <p:cNvPr id="24" name="Image 5" descr="preencoded.png">    </p:cNvPr>
          <p:cNvPicPr>
            <a:picLocks noChangeAspect="1"/>
          </p:cNvPicPr>
          <p:nvPr/>
        </p:nvPicPr>
        <p:blipFill>
          <a:blip r:embed="rId6"/>
          <a:stretch>
            <a:fillRect/>
          </a:stretch>
        </p:blipFill>
        <p:spPr>
          <a:xfrm>
            <a:off x="4937760" y="3703320"/>
            <a:ext cx="347472" cy="347472"/>
          </a:xfrm>
          <a:prstGeom prst="rect">
            <a:avLst/>
          </a:prstGeom>
        </p:spPr>
      </p:pic>
      <p:sp>
        <p:nvSpPr>
          <p:cNvPr id="25" name="Text 17"/>
          <p:cNvSpPr/>
          <p:nvPr/>
        </p:nvSpPr>
        <p:spPr>
          <a:xfrm>
            <a:off x="5394960" y="3703320"/>
            <a:ext cx="333756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Bootstrap bằng AI</a:t>
            </a:r>
            <a:endParaRPr lang="en-US" sz="1300" dirty="0"/>
          </a:p>
        </p:txBody>
      </p:sp>
      <p:sp>
        <p:nvSpPr>
          <p:cNvPr id="26" name="Text 18"/>
          <p:cNvSpPr/>
          <p:nvPr/>
        </p:nvSpPr>
        <p:spPr>
          <a:xfrm>
            <a:off x="4937760" y="4114800"/>
            <a:ext cx="3840480" cy="54864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BOSS tự viết AGENT.md + manifests cho agent mới dựa trên hiểu biết project.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indent="0" marL="0">
              <a:buNone/>
            </a:pPr>
            <a:r>
              <a:rPr lang="en-US" sz="2600" b="1" dirty="0">
                <a:solidFill>
                  <a:srgbClr val="0F172A"/>
                </a:solidFill>
                <a:latin typeface="Arial" pitchFamily="34" charset="0"/>
                <a:ea typeface="Arial" pitchFamily="34" charset="-122"/>
                <a:cs typeface="Arial" pitchFamily="34" charset="-120"/>
              </a:rPr>
              <a:t>Tiềm năng &amp; Roadmap (Startup angle)</a:t>
            </a:r>
            <a:endParaRPr lang="en-US" sz="2600" dirty="0"/>
          </a:p>
        </p:txBody>
      </p:sp>
      <p:sp>
        <p:nvSpPr>
          <p:cNvPr id="3" name="Shape 1"/>
          <p:cNvSpPr/>
          <p:nvPr/>
        </p:nvSpPr>
        <p:spPr>
          <a:xfrm>
            <a:off x="457200" y="914400"/>
            <a:ext cx="8229600" cy="1234440"/>
          </a:xfrm>
          <a:prstGeom prst="roundRect">
            <a:avLst>
              <a:gd name="adj" fmla="val 5926"/>
            </a:avLst>
          </a:prstGeom>
          <a:solidFill>
            <a:srgbClr val="FFFFFF"/>
          </a:solidFill>
          <a:ln/>
        </p:spPr>
      </p:sp>
      <p:sp>
        <p:nvSpPr>
          <p:cNvPr id="4" name="Text 2"/>
          <p:cNvSpPr/>
          <p:nvPr/>
        </p:nvSpPr>
        <p:spPr>
          <a:xfrm>
            <a:off x="640080" y="1024128"/>
            <a:ext cx="7863840" cy="320040"/>
          </a:xfrm>
          <a:prstGeom prst="rect">
            <a:avLst/>
          </a:prstGeom>
          <a:noFill/>
          <a:ln/>
        </p:spPr>
        <p:txBody>
          <a:bodyPr wrap="square" rtlCol="0" anchor="ctr"/>
          <a:lstStyle/>
          <a:p>
            <a:pPr indent="0" marL="0">
              <a:buNone/>
            </a:pPr>
            <a:r>
              <a:rPr lang="en-US" sz="1400" b="1" dirty="0">
                <a:solidFill>
                  <a:srgbClr val="06B6D4"/>
                </a:solidFill>
                <a:latin typeface="Arial" pitchFamily="34" charset="0"/>
                <a:ea typeface="Arial" pitchFamily="34" charset="-122"/>
                <a:cs typeface="Arial" pitchFamily="34" charset="-120"/>
              </a:rPr>
              <a:t>Hiện tại (MVP mạnh)</a:t>
            </a:r>
            <a:endParaRPr lang="en-US" sz="1400" dirty="0"/>
          </a:p>
        </p:txBody>
      </p:sp>
      <p:sp>
        <p:nvSpPr>
          <p:cNvPr id="5" name="Text 3"/>
          <p:cNvSpPr/>
          <p:nvPr/>
        </p:nvSpPr>
        <p:spPr>
          <a:xfrm>
            <a:off x="640080" y="1371600"/>
            <a:ext cx="7863840" cy="731520"/>
          </a:xfrm>
          <a:prstGeom prst="rect">
            <a:avLst/>
          </a:prstGeom>
          <a:noFill/>
          <a:ln/>
        </p:spPr>
        <p:txBody>
          <a:bodyPr wrap="square" rtlCol="0" anchor="ctr"/>
          <a:lstStyle/>
          <a:p>
            <a:pPr indent="0" marL="0">
              <a:buNone/>
            </a:pPr>
            <a:r>
              <a:rPr lang="en-US" sz="1200" dirty="0">
                <a:solidFill>
                  <a:srgbClr val="0F172A"/>
                </a:solidFill>
                <a:latin typeface="Arial" pitchFamily="34" charset="0"/>
                <a:ea typeface="Arial" pitchFamily="34" charset="-122"/>
                <a:cs typeface="Arial" pitchFamily="34" charset="-120"/>
              </a:rPr>
              <a:t>• Đã dùng thực tế trên nhiều project phức tạp (ConstructionVLM, ConSynth-X...)</a:t>
            </a:r>
            <a:endParaRPr lang="en-US" sz="1200" dirty="0"/>
          </a:p>
          <a:p>
            <a:pPr indent="0" marL="0">
              <a:buNone/>
            </a:pPr>
            <a:r>
              <a:rPr lang="en-US" sz="1200" dirty="0">
                <a:solidFill>
                  <a:srgbClr val="0F172A"/>
                </a:solidFill>
                <a:latin typeface="Arial" pitchFamily="34" charset="0"/>
                <a:ea typeface="Arial" pitchFamily="34" charset="-122"/>
                <a:cs typeface="Arial" pitchFamily="34" charset="-120"/>
              </a:rPr>
              <a:t>• Dispatch + Scheduler + UI hoàn chỉnh</a:t>
            </a:r>
            <a:endParaRPr lang="en-US" sz="1200" dirty="0"/>
          </a:p>
          <a:p>
            <a:pPr indent="0" marL="0">
              <a:buNone/>
            </a:pPr>
            <a:r>
              <a:rPr lang="en-US" sz="1200" dirty="0">
                <a:solidFill>
                  <a:srgbClr val="0F172A"/>
                </a:solidFill>
                <a:latin typeface="Arial" pitchFamily="34" charset="0"/>
                <a:ea typeface="Arial" pitchFamily="34" charset="-122"/>
                <a:cs typeface="Arial" pitchFamily="34" charset="-120"/>
              </a:rPr>
              <a:t>• Có tài liệu kỹ thuật rất chi tiết (CLAUDE.md)</a:t>
            </a:r>
            <a:endParaRPr lang="en-US" sz="1200" dirty="0"/>
          </a:p>
        </p:txBody>
      </p:sp>
      <p:sp>
        <p:nvSpPr>
          <p:cNvPr id="6" name="Shape 4"/>
          <p:cNvSpPr/>
          <p:nvPr/>
        </p:nvSpPr>
        <p:spPr>
          <a:xfrm>
            <a:off x="457200" y="2240280"/>
            <a:ext cx="8229600" cy="1234440"/>
          </a:xfrm>
          <a:prstGeom prst="roundRect">
            <a:avLst>
              <a:gd name="adj" fmla="val 5926"/>
            </a:avLst>
          </a:prstGeom>
          <a:solidFill>
            <a:srgbClr val="FFFFFF"/>
          </a:solidFill>
          <a:ln/>
        </p:spPr>
      </p:sp>
      <p:sp>
        <p:nvSpPr>
          <p:cNvPr id="7" name="Text 5"/>
          <p:cNvSpPr/>
          <p:nvPr/>
        </p:nvSpPr>
        <p:spPr>
          <a:xfrm>
            <a:off x="640080" y="2350008"/>
            <a:ext cx="7863840" cy="320040"/>
          </a:xfrm>
          <a:prstGeom prst="rect">
            <a:avLst/>
          </a:prstGeom>
          <a:noFill/>
          <a:ln/>
        </p:spPr>
        <p:txBody>
          <a:bodyPr wrap="square" rtlCol="0" anchor="ctr"/>
          <a:lstStyle/>
          <a:p>
            <a:pPr indent="0" marL="0">
              <a:buNone/>
            </a:pPr>
            <a:r>
              <a:rPr lang="en-US" sz="1400" b="1" dirty="0">
                <a:solidFill>
                  <a:srgbClr val="06B6D4"/>
                </a:solidFill>
                <a:latin typeface="Arial" pitchFamily="34" charset="0"/>
                <a:ea typeface="Arial" pitchFamily="34" charset="-122"/>
                <a:cs typeface="Arial" pitchFamily="34" charset="-120"/>
              </a:rPr>
              <a:t>Gần (1-3 tháng)</a:t>
            </a:r>
            <a:endParaRPr lang="en-US" sz="1400" dirty="0"/>
          </a:p>
        </p:txBody>
      </p:sp>
      <p:sp>
        <p:nvSpPr>
          <p:cNvPr id="8" name="Text 6"/>
          <p:cNvSpPr/>
          <p:nvPr/>
        </p:nvSpPr>
        <p:spPr>
          <a:xfrm>
            <a:off x="640080" y="2697480"/>
            <a:ext cx="7863840" cy="731520"/>
          </a:xfrm>
          <a:prstGeom prst="rect">
            <a:avLst/>
          </a:prstGeom>
          <a:noFill/>
          <a:ln/>
        </p:spPr>
        <p:txBody>
          <a:bodyPr wrap="square" rtlCol="0" anchor="ctr"/>
          <a:lstStyle/>
          <a:p>
            <a:pPr indent="0" marL="0">
              <a:buNone/>
            </a:pPr>
            <a:r>
              <a:rPr lang="en-US" sz="1200" dirty="0">
                <a:solidFill>
                  <a:srgbClr val="0F172A"/>
                </a:solidFill>
                <a:latin typeface="Arial" pitchFamily="34" charset="0"/>
                <a:ea typeface="Arial" pitchFamily="34" charset="-122"/>
                <a:cs typeface="Arial" pitchFamily="34" charset="-120"/>
              </a:rPr>
              <a:t>• Multi-user (auth đơn giản)</a:t>
            </a:r>
            <a:endParaRPr lang="en-US" sz="1200" dirty="0"/>
          </a:p>
          <a:p>
            <a:pPr indent="0" marL="0">
              <a:buNone/>
            </a:pPr>
            <a:r>
              <a:rPr lang="en-US" sz="1200" dirty="0">
                <a:solidFill>
                  <a:srgbClr val="0F172A"/>
                </a:solidFill>
                <a:latin typeface="Arial" pitchFamily="34" charset="0"/>
                <a:ea typeface="Arial" pitchFamily="34" charset="-122"/>
                <a:cs typeface="Arial" pitchFamily="34" charset="-120"/>
              </a:rPr>
              <a:t>• Template marketplace cho agent</a:t>
            </a:r>
            <a:endParaRPr lang="en-US" sz="1200" dirty="0"/>
          </a:p>
          <a:p>
            <a:pPr indent="0" marL="0">
              <a:buNone/>
            </a:pPr>
            <a:r>
              <a:rPr lang="en-US" sz="1200" dirty="0">
                <a:solidFill>
                  <a:srgbClr val="0F172A"/>
                </a:solidFill>
                <a:latin typeface="Arial" pitchFamily="34" charset="0"/>
                <a:ea typeface="Arial" pitchFamily="34" charset="-122"/>
                <a:cs typeface="Arial" pitchFamily="34" charset="-120"/>
              </a:rPr>
              <a:t>• Export / Import graph</a:t>
            </a:r>
            <a:endParaRPr lang="en-US" sz="1200" dirty="0"/>
          </a:p>
          <a:p>
            <a:pPr indent="0" marL="0">
              <a:buNone/>
            </a:pPr>
            <a:r>
              <a:rPr lang="en-US" sz="1200" dirty="0">
                <a:solidFill>
                  <a:srgbClr val="0F172A"/>
                </a:solidFill>
                <a:latin typeface="Arial" pitchFamily="34" charset="0"/>
                <a:ea typeface="Arial" pitchFamily="34" charset="-122"/>
                <a:cs typeface="Arial" pitchFamily="34" charset="-120"/>
              </a:rPr>
              <a:t>• Hỗ trợ thêm adapter (OpenAI, Gemini...)</a:t>
            </a:r>
            <a:endParaRPr lang="en-US" sz="1200" dirty="0"/>
          </a:p>
        </p:txBody>
      </p:sp>
      <p:sp>
        <p:nvSpPr>
          <p:cNvPr id="9" name="Shape 7"/>
          <p:cNvSpPr/>
          <p:nvPr/>
        </p:nvSpPr>
        <p:spPr>
          <a:xfrm>
            <a:off x="457200" y="3566160"/>
            <a:ext cx="8229600" cy="1234440"/>
          </a:xfrm>
          <a:prstGeom prst="roundRect">
            <a:avLst>
              <a:gd name="adj" fmla="val 5926"/>
            </a:avLst>
          </a:prstGeom>
          <a:solidFill>
            <a:srgbClr val="E0F2FE"/>
          </a:solidFill>
          <a:ln/>
        </p:spPr>
      </p:sp>
      <p:sp>
        <p:nvSpPr>
          <p:cNvPr id="10" name="Text 8"/>
          <p:cNvSpPr/>
          <p:nvPr/>
        </p:nvSpPr>
        <p:spPr>
          <a:xfrm>
            <a:off x="640080" y="3675888"/>
            <a:ext cx="7863840" cy="320040"/>
          </a:xfrm>
          <a:prstGeom prst="rect">
            <a:avLst/>
          </a:prstGeom>
          <a:noFill/>
          <a:ln/>
        </p:spPr>
        <p:txBody>
          <a:bodyPr wrap="square" rtlCol="0" anchor="ctr"/>
          <a:lstStyle/>
          <a:p>
            <a:pPr indent="0" marL="0">
              <a:buNone/>
            </a:pPr>
            <a:r>
              <a:rPr lang="en-US" sz="1400" b="1" dirty="0">
                <a:solidFill>
                  <a:srgbClr val="06B6D4"/>
                </a:solidFill>
                <a:latin typeface="Arial" pitchFamily="34" charset="0"/>
                <a:ea typeface="Arial" pitchFamily="34" charset="-122"/>
                <a:cs typeface="Arial" pitchFamily="34" charset="-120"/>
              </a:rPr>
              <a:t>Trung hạn (Startup)</a:t>
            </a:r>
            <a:endParaRPr lang="en-US" sz="1400" dirty="0"/>
          </a:p>
        </p:txBody>
      </p:sp>
      <p:sp>
        <p:nvSpPr>
          <p:cNvPr id="11" name="Text 9"/>
          <p:cNvSpPr/>
          <p:nvPr/>
        </p:nvSpPr>
        <p:spPr>
          <a:xfrm>
            <a:off x="640080" y="4023360"/>
            <a:ext cx="7863840" cy="731520"/>
          </a:xfrm>
          <a:prstGeom prst="rect">
            <a:avLst/>
          </a:prstGeom>
          <a:noFill/>
          <a:ln/>
        </p:spPr>
        <p:txBody>
          <a:bodyPr wrap="square" rtlCol="0" anchor="ctr"/>
          <a:lstStyle/>
          <a:p>
            <a:pPr indent="0" marL="0">
              <a:buNone/>
            </a:pPr>
            <a:r>
              <a:rPr lang="en-US" sz="1200" dirty="0">
                <a:solidFill>
                  <a:srgbClr val="0F172A"/>
                </a:solidFill>
                <a:latin typeface="Arial" pitchFamily="34" charset="0"/>
                <a:ea typeface="Arial" pitchFamily="34" charset="-122"/>
                <a:cs typeface="Arial" pitchFamily="34" charset="-120"/>
              </a:rPr>
              <a:t>• Local-first + optional sync cloud</a:t>
            </a:r>
            <a:endParaRPr lang="en-US" sz="1200" dirty="0"/>
          </a:p>
          <a:p>
            <a:pPr indent="0" marL="0">
              <a:buNone/>
            </a:pPr>
            <a:r>
              <a:rPr lang="en-US" sz="1200" dirty="0">
                <a:solidFill>
                  <a:srgbClr val="0F172A"/>
                </a:solidFill>
                <a:latin typeface="Arial" pitchFamily="34" charset="0"/>
                <a:ea typeface="Arial" pitchFamily="34" charset="-122"/>
                <a:cs typeface="Arial" pitchFamily="34" charset="-120"/>
              </a:rPr>
              <a:t>• Team workspace</a:t>
            </a:r>
            <a:endParaRPr lang="en-US" sz="1200" dirty="0"/>
          </a:p>
          <a:p>
            <a:pPr indent="0" marL="0">
              <a:buNone/>
            </a:pPr>
            <a:r>
              <a:rPr lang="en-US" sz="1200" dirty="0">
                <a:solidFill>
                  <a:srgbClr val="0F172A"/>
                </a:solidFill>
                <a:latin typeface="Arial" pitchFamily="34" charset="0"/>
                <a:ea typeface="Arial" pitchFamily="34" charset="-122"/>
                <a:cs typeface="Arial" pitchFamily="34" charset="-120"/>
              </a:rPr>
              <a:t>• Usage analytics &amp; token optimization</a:t>
            </a:r>
            <a:endParaRPr lang="en-US" sz="1200" dirty="0"/>
          </a:p>
          <a:p>
            <a:pPr indent="0" marL="0">
              <a:buNone/>
            </a:pPr>
            <a:r>
              <a:rPr lang="en-US" sz="1200" dirty="0">
                <a:solidFill>
                  <a:srgbClr val="0F172A"/>
                </a:solidFill>
                <a:latin typeface="Arial" pitchFamily="34" charset="0"/>
                <a:ea typeface="Arial" pitchFamily="34" charset="-122"/>
                <a:cs typeface="Arial" pitchFamily="34" charset="-120"/>
              </a:rPr>
              <a:t>• Commercial license / hosted version cho lab &amp; công ty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2D3EE"/>
          </a:solidFill>
          <a:ln/>
        </p:spPr>
      </p:sp>
      <p:sp>
        <p:nvSpPr>
          <p:cNvPr id="3" name="Text 1"/>
          <p:cNvSpPr/>
          <p:nvPr/>
        </p:nvSpPr>
        <p:spPr>
          <a:xfrm>
            <a:off x="457200" y="548640"/>
            <a:ext cx="8229600" cy="54864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Kết luận</a:t>
            </a:r>
            <a:endParaRPr lang="en-US" sz="3200" dirty="0"/>
          </a:p>
        </p:txBody>
      </p:sp>
      <p:sp>
        <p:nvSpPr>
          <p:cNvPr id="4" name="Text 2"/>
          <p:cNvSpPr/>
          <p:nvPr/>
        </p:nvSpPr>
        <p:spPr>
          <a:xfrm>
            <a:off x="457200" y="1280160"/>
            <a:ext cx="8229600" cy="822960"/>
          </a:xfrm>
          <a:prstGeom prst="rect">
            <a:avLst/>
          </a:prstGeom>
          <a:noFill/>
          <a:ln/>
        </p:spPr>
        <p:txBody>
          <a:bodyPr wrap="square" rtlCol="0" anchor="ctr"/>
          <a:lstStyle/>
          <a:p>
            <a:pPr indent="0" marL="0">
              <a:buNone/>
            </a:pPr>
            <a:r>
              <a:rPr lang="en-US" sz="1800" dirty="0">
                <a:solidFill>
                  <a:srgbClr val="E2E8F0"/>
                </a:solidFill>
                <a:latin typeface="Arial" pitchFamily="34" charset="0"/>
                <a:ea typeface="Arial" pitchFamily="34" charset="-122"/>
                <a:cs typeface="Arial" pitchFamily="34" charset="-120"/>
              </a:rPr>
              <a:t>AgentUI không chỉ là một giao diện chat.</a:t>
            </a:r>
            <a:endParaRPr lang="en-US" sz="1800" dirty="0"/>
          </a:p>
          <a:p>
            <a:pPr indent="0" marL="0">
              <a:buNone/>
            </a:pPr>
            <a:r>
              <a:rPr lang="en-US" sz="1800" dirty="0">
                <a:solidFill>
                  <a:srgbClr val="E2E8F0"/>
                </a:solidFill>
                <a:latin typeface="Arial" pitchFamily="34" charset="0"/>
                <a:ea typeface="Arial" pitchFamily="34" charset="-122"/>
                <a:cs typeface="Arial" pitchFamily="34" charset="-120"/>
              </a:rPr>
              <a:t>Nó là lớp control plane thực sự cho kỷ nguyên multi-agent.</a:t>
            </a:r>
            <a:endParaRPr lang="en-US" sz="1800" dirty="0"/>
          </a:p>
        </p:txBody>
      </p:sp>
      <p:pic>
        <p:nvPicPr>
          <p:cNvPr id="5" name="Image 0" descr="preencoded.png">    </p:cNvPr>
          <p:cNvPicPr>
            <a:picLocks noChangeAspect="1"/>
          </p:cNvPicPr>
          <p:nvPr/>
        </p:nvPicPr>
        <p:blipFill>
          <a:blip r:embed="rId1"/>
          <a:stretch>
            <a:fillRect/>
          </a:stretch>
        </p:blipFill>
        <p:spPr>
          <a:xfrm>
            <a:off x="548640" y="2286000"/>
            <a:ext cx="320040" cy="320040"/>
          </a:xfrm>
          <a:prstGeom prst="rect">
            <a:avLst/>
          </a:prstGeom>
        </p:spPr>
      </p:pic>
      <p:sp>
        <p:nvSpPr>
          <p:cNvPr id="6" name="Text 3"/>
          <p:cNvSpPr/>
          <p:nvPr/>
        </p:nvSpPr>
        <p:spPr>
          <a:xfrm>
            <a:off x="1005840" y="2286000"/>
            <a:ext cx="7589520" cy="41148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Giải quyết đau đớn thực tế: observability, dispatch verification, scheduling</a:t>
            </a:r>
            <a:endParaRPr lang="en-US" sz="1500" dirty="0"/>
          </a:p>
        </p:txBody>
      </p:sp>
      <p:pic>
        <p:nvPicPr>
          <p:cNvPr id="7" name="Image 1" descr="preencoded.png">    </p:cNvPr>
          <p:cNvPicPr>
            <a:picLocks noChangeAspect="1"/>
          </p:cNvPicPr>
          <p:nvPr/>
        </p:nvPicPr>
        <p:blipFill>
          <a:blip r:embed="rId2"/>
          <a:stretch>
            <a:fillRect/>
          </a:stretch>
        </p:blipFill>
        <p:spPr>
          <a:xfrm>
            <a:off x="548640" y="2788920"/>
            <a:ext cx="320040" cy="320040"/>
          </a:xfrm>
          <a:prstGeom prst="rect">
            <a:avLst/>
          </a:prstGeom>
        </p:spPr>
      </p:pic>
      <p:sp>
        <p:nvSpPr>
          <p:cNvPr id="8" name="Text 4"/>
          <p:cNvSpPr/>
          <p:nvPr/>
        </p:nvSpPr>
        <p:spPr>
          <a:xfrm>
            <a:off x="1005840" y="2788920"/>
            <a:ext cx="7589520" cy="41148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Chi phí thấp (dùng subscription sẵn có)</a:t>
            </a:r>
            <a:endParaRPr lang="en-US" sz="1500" dirty="0"/>
          </a:p>
        </p:txBody>
      </p:sp>
      <p:pic>
        <p:nvPicPr>
          <p:cNvPr id="9" name="Image 2" descr="preencoded.png">    </p:cNvPr>
          <p:cNvPicPr>
            <a:picLocks noChangeAspect="1"/>
          </p:cNvPicPr>
          <p:nvPr/>
        </p:nvPicPr>
        <p:blipFill>
          <a:blip r:embed="rId3"/>
          <a:stretch>
            <a:fillRect/>
          </a:stretch>
        </p:blipFill>
        <p:spPr>
          <a:xfrm>
            <a:off x="548640" y="3291840"/>
            <a:ext cx="320040" cy="320040"/>
          </a:xfrm>
          <a:prstGeom prst="rect">
            <a:avLst/>
          </a:prstGeom>
        </p:spPr>
      </p:pic>
      <p:sp>
        <p:nvSpPr>
          <p:cNvPr id="10" name="Text 5"/>
          <p:cNvSpPr/>
          <p:nvPr/>
        </p:nvSpPr>
        <p:spPr>
          <a:xfrm>
            <a:off x="1005840" y="3291840"/>
            <a:ext cx="7589520" cy="41148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Đã được battle-tested trên các project nghiên cứu phức tạp</a:t>
            </a:r>
            <a:endParaRPr lang="en-US" sz="1500" dirty="0"/>
          </a:p>
        </p:txBody>
      </p:sp>
      <p:pic>
        <p:nvPicPr>
          <p:cNvPr id="11" name="Image 3" descr="preencoded.png">    </p:cNvPr>
          <p:cNvPicPr>
            <a:picLocks noChangeAspect="1"/>
          </p:cNvPicPr>
          <p:nvPr/>
        </p:nvPicPr>
        <p:blipFill>
          <a:blip r:embed="rId4"/>
          <a:stretch>
            <a:fillRect/>
          </a:stretch>
        </p:blipFill>
        <p:spPr>
          <a:xfrm>
            <a:off x="548640" y="3794760"/>
            <a:ext cx="320040" cy="320040"/>
          </a:xfrm>
          <a:prstGeom prst="rect">
            <a:avLst/>
          </a:prstGeom>
        </p:spPr>
      </p:pic>
      <p:sp>
        <p:nvSpPr>
          <p:cNvPr id="12" name="Text 6"/>
          <p:cNvSpPr/>
          <p:nvPr/>
        </p:nvSpPr>
        <p:spPr>
          <a:xfrm>
            <a:off x="1005840" y="3794760"/>
            <a:ext cx="7589520" cy="41148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Kiến trúc sạch, có tài liệu sâu, dễ mở rộng</a:t>
            </a:r>
            <a:endParaRPr lang="en-US" sz="1500" dirty="0"/>
          </a:p>
        </p:txBody>
      </p:sp>
      <p:sp>
        <p:nvSpPr>
          <p:cNvPr id="13" name="Text 7"/>
          <p:cNvSpPr/>
          <p:nvPr/>
        </p:nvSpPr>
        <p:spPr>
          <a:xfrm>
            <a:off x="457200" y="4480560"/>
            <a:ext cx="8229600" cy="365760"/>
          </a:xfrm>
          <a:prstGeom prst="rect">
            <a:avLst/>
          </a:prstGeom>
          <a:noFill/>
          <a:ln/>
        </p:spPr>
        <p:txBody>
          <a:bodyPr wrap="square" rtlCol="0" anchor="ctr"/>
          <a:lstStyle/>
          <a:p>
            <a:pPr indent="0" marL="0">
              <a:buNone/>
            </a:pPr>
            <a:r>
              <a:rPr lang="en-US" sz="1600" b="1" dirty="0">
                <a:solidFill>
                  <a:srgbClr val="22D3EE"/>
                </a:solidFill>
                <a:latin typeface="Arial" pitchFamily="34" charset="0"/>
                <a:ea typeface="Arial" pitchFamily="34" charset="-122"/>
                <a:cs typeface="Arial" pitchFamily="34" charset="-120"/>
              </a:rPr>
              <a:t>Sẵn sàng để scale thành sản phẩm startup nhỏ.</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AgentUI - Multi-Agent Control Plane</dc:title>
  <dc:subject>Localhost UI for multi-agent AI workflows</dc:subject>
  <dc:creator>VietHuy</dc:creator>
  <cp:lastModifiedBy>VietHuy</cp:lastModifiedBy>
  <cp:revision>1</cp:revision>
  <dcterms:created xsi:type="dcterms:W3CDTF">2026-06-25T15:38:47Z</dcterms:created>
  <dcterms:modified xsi:type="dcterms:W3CDTF">2026-06-25T15:38:47Z</dcterms:modified>
</cp:coreProperties>
</file>